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7862C1-6853-4DF6-B868-36A5D013CCEC}" v="1" dt="2026-08-14T20:28:03.613"/>
    <p1510:client id="{A04F68E9-9FCA-45B9-B93C-81FC763D5966}" v="3" dt="2026-08-15T08:53:56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sain Z. Kaka" userId="b86a7b92-7610-4407-a3ee-76772486fb95" providerId="ADAL" clId="{82D1230A-3059-4268-A0C9-9B186A36CD53}"/>
    <pc:docChg chg="undo custSel modSld">
      <pc:chgData name="Husain Z. Kaka" userId="b86a7b92-7610-4407-a3ee-76772486fb95" providerId="ADAL" clId="{82D1230A-3059-4268-A0C9-9B186A36CD53}" dt="2026-08-15T08:53:25.704" v="73" actId="27636"/>
      <pc:docMkLst>
        <pc:docMk/>
      </pc:docMkLst>
      <pc:sldChg chg="modSp mod">
        <pc:chgData name="Husain Z. Kaka" userId="b86a7b92-7610-4407-a3ee-76772486fb95" providerId="ADAL" clId="{82D1230A-3059-4268-A0C9-9B186A36CD53}" dt="2026-08-15T07:42:10.787" v="71" actId="20577"/>
        <pc:sldMkLst>
          <pc:docMk/>
          <pc:sldMk cId="426688383" sldId="256"/>
        </pc:sldMkLst>
        <pc:spChg chg="mod">
          <ac:chgData name="Husain Z. Kaka" userId="b86a7b92-7610-4407-a3ee-76772486fb95" providerId="ADAL" clId="{82D1230A-3059-4268-A0C9-9B186A36CD53}" dt="2026-08-15T07:42:10.787" v="71" actId="20577"/>
          <ac:spMkLst>
            <pc:docMk/>
            <pc:sldMk cId="426688383" sldId="256"/>
            <ac:spMk id="8" creationId="{17C7DB56-D792-4854-B2CF-D0F16122B559}"/>
          </ac:spMkLst>
        </pc:spChg>
        <pc:spChg chg="mod">
          <ac:chgData name="Husain Z. Kaka" userId="b86a7b92-7610-4407-a3ee-76772486fb95" providerId="ADAL" clId="{82D1230A-3059-4268-A0C9-9B186A36CD53}" dt="2026-08-14T20:28:09.218" v="53" actId="3626"/>
          <ac:spMkLst>
            <pc:docMk/>
            <pc:sldMk cId="426688383" sldId="256"/>
            <ac:spMk id="10" creationId="{D3B22956-4CD7-4CEA-BA4A-5848D66F6D79}"/>
          </ac:spMkLst>
        </pc:spChg>
      </pc:sldChg>
      <pc:sldChg chg="modSp mod">
        <pc:chgData name="Husain Z. Kaka" userId="b86a7b92-7610-4407-a3ee-76772486fb95" providerId="ADAL" clId="{82D1230A-3059-4268-A0C9-9B186A36CD53}" dt="2026-08-14T20:28:03.678" v="43" actId="27636"/>
        <pc:sldMkLst>
          <pc:docMk/>
          <pc:sldMk cId="1753897045" sldId="262"/>
        </pc:sldMkLst>
        <pc:spChg chg="mod">
          <ac:chgData name="Husain Z. Kaka" userId="b86a7b92-7610-4407-a3ee-76772486fb95" providerId="ADAL" clId="{82D1230A-3059-4268-A0C9-9B186A36CD53}" dt="2026-08-14T20:28:03.678" v="43" actId="27636"/>
          <ac:spMkLst>
            <pc:docMk/>
            <pc:sldMk cId="1753897045" sldId="262"/>
            <ac:spMk id="2" creationId="{781A965C-A452-4868-B690-2991235A38A7}"/>
          </ac:spMkLst>
        </pc:spChg>
        <pc:spChg chg="mod">
          <ac:chgData name="Husain Z. Kaka" userId="b86a7b92-7610-4407-a3ee-76772486fb95" providerId="ADAL" clId="{82D1230A-3059-4268-A0C9-9B186A36CD53}" dt="2026-08-14T20:28:03.672" v="42" actId="27636"/>
          <ac:spMkLst>
            <pc:docMk/>
            <pc:sldMk cId="1753897045" sldId="262"/>
            <ac:spMk id="17" creationId="{77178F0E-9E89-4146-AA6E-0BAEF8F3DE7A}"/>
          </ac:spMkLst>
        </pc:spChg>
      </pc:sldChg>
      <pc:sldChg chg="modSp mod">
        <pc:chgData name="Husain Z. Kaka" userId="b86a7b92-7610-4407-a3ee-76772486fb95" providerId="ADAL" clId="{82D1230A-3059-4268-A0C9-9B186A36CD53}" dt="2026-08-14T20:28:03.690" v="44" actId="27636"/>
        <pc:sldMkLst>
          <pc:docMk/>
          <pc:sldMk cId="1944184431" sldId="263"/>
        </pc:sldMkLst>
        <pc:spChg chg="mod">
          <ac:chgData name="Husain Z. Kaka" userId="b86a7b92-7610-4407-a3ee-76772486fb95" providerId="ADAL" clId="{82D1230A-3059-4268-A0C9-9B186A36CD53}" dt="2026-08-14T20:28:03.690" v="44" actId="27636"/>
          <ac:spMkLst>
            <pc:docMk/>
            <pc:sldMk cId="1944184431" sldId="263"/>
            <ac:spMk id="42" creationId="{006EC87C-D6AE-4B12-AE63-93B16D9EE051}"/>
          </ac:spMkLst>
        </pc:spChg>
      </pc:sldChg>
      <pc:sldChg chg="modSp mod">
        <pc:chgData name="Husain Z. Kaka" userId="b86a7b92-7610-4407-a3ee-76772486fb95" providerId="ADAL" clId="{82D1230A-3059-4268-A0C9-9B186A36CD53}" dt="2026-08-14T20:11:36.994" v="38" actId="14826"/>
        <pc:sldMkLst>
          <pc:docMk/>
          <pc:sldMk cId="95041832" sldId="265"/>
        </pc:sldMkLst>
        <pc:picChg chg="mod">
          <ac:chgData name="Husain Z. Kaka" userId="b86a7b92-7610-4407-a3ee-76772486fb95" providerId="ADAL" clId="{82D1230A-3059-4268-A0C9-9B186A36CD53}" dt="2026-08-14T20:11:36.994" v="38" actId="14826"/>
          <ac:picMkLst>
            <pc:docMk/>
            <pc:sldMk cId="95041832" sldId="265"/>
            <ac:picMk id="23" creationId="{00000000-0000-0000-0000-000000000000}"/>
          </ac:picMkLst>
        </pc:picChg>
      </pc:sldChg>
      <pc:sldChg chg="modSp mod">
        <pc:chgData name="Husain Z. Kaka" userId="b86a7b92-7610-4407-a3ee-76772486fb95" providerId="ADAL" clId="{82D1230A-3059-4268-A0C9-9B186A36CD53}" dt="2026-08-14T20:28:03.713" v="45" actId="27636"/>
        <pc:sldMkLst>
          <pc:docMk/>
          <pc:sldMk cId="1582018735" sldId="271"/>
        </pc:sldMkLst>
        <pc:spChg chg="mod">
          <ac:chgData name="Husain Z. Kaka" userId="b86a7b92-7610-4407-a3ee-76772486fb95" providerId="ADAL" clId="{82D1230A-3059-4268-A0C9-9B186A36CD53}" dt="2026-08-14T20:28:03.713" v="45" actId="27636"/>
          <ac:spMkLst>
            <pc:docMk/>
            <pc:sldMk cId="1582018735" sldId="271"/>
            <ac:spMk id="2" creationId="{9BACAA77-A95F-4082-A196-35D524F2D81E}"/>
          </ac:spMkLst>
        </pc:spChg>
      </pc:sldChg>
      <pc:sldChg chg="modSp mod">
        <pc:chgData name="Husain Z. Kaka" userId="b86a7b92-7610-4407-a3ee-76772486fb95" providerId="ADAL" clId="{82D1230A-3059-4268-A0C9-9B186A36CD53}" dt="2026-08-14T20:28:03.726" v="46" actId="27636"/>
        <pc:sldMkLst>
          <pc:docMk/>
          <pc:sldMk cId="914287547" sldId="274"/>
        </pc:sldMkLst>
        <pc:spChg chg="mod">
          <ac:chgData name="Husain Z. Kaka" userId="b86a7b92-7610-4407-a3ee-76772486fb95" providerId="ADAL" clId="{82D1230A-3059-4268-A0C9-9B186A36CD53}" dt="2026-08-14T20:28:03.726" v="46" actId="27636"/>
          <ac:spMkLst>
            <pc:docMk/>
            <pc:sldMk cId="914287547" sldId="274"/>
            <ac:spMk id="2" creationId="{DCD673F8-2C49-4440-8F83-0E416F248754}"/>
          </ac:spMkLst>
        </pc:spChg>
      </pc:sldChg>
      <pc:sldChg chg="modSp mod">
        <pc:chgData name="Husain Z. Kaka" userId="b86a7b92-7610-4407-a3ee-76772486fb95" providerId="ADAL" clId="{82D1230A-3059-4268-A0C9-9B186A36CD53}" dt="2026-08-15T08:53:25.690" v="72" actId="27636"/>
        <pc:sldMkLst>
          <pc:docMk/>
          <pc:sldMk cId="609777656" sldId="276"/>
        </pc:sldMkLst>
        <pc:spChg chg="mod">
          <ac:chgData name="Husain Z. Kaka" userId="b86a7b92-7610-4407-a3ee-76772486fb95" providerId="ADAL" clId="{82D1230A-3059-4268-A0C9-9B186A36CD53}" dt="2026-08-15T08:53:25.690" v="72" actId="27636"/>
          <ac:spMkLst>
            <pc:docMk/>
            <pc:sldMk cId="609777656" sldId="276"/>
            <ac:spMk id="2" creationId="{758ABDE0-262F-4DC2-A1FA-C267EACF5B93}"/>
          </ac:spMkLst>
        </pc:spChg>
      </pc:sldChg>
      <pc:sldChg chg="modSp mod">
        <pc:chgData name="Husain Z. Kaka" userId="b86a7b92-7610-4407-a3ee-76772486fb95" providerId="ADAL" clId="{82D1230A-3059-4268-A0C9-9B186A36CD53}" dt="2026-08-14T20:28:03.759" v="48" actId="27636"/>
        <pc:sldMkLst>
          <pc:docMk/>
          <pc:sldMk cId="214325133" sldId="277"/>
        </pc:sldMkLst>
        <pc:spChg chg="mod">
          <ac:chgData name="Husain Z. Kaka" userId="b86a7b92-7610-4407-a3ee-76772486fb95" providerId="ADAL" clId="{82D1230A-3059-4268-A0C9-9B186A36CD53}" dt="2026-08-14T20:28:03.759" v="48" actId="27636"/>
          <ac:spMkLst>
            <pc:docMk/>
            <pc:sldMk cId="214325133" sldId="277"/>
            <ac:spMk id="23" creationId="{9DC5788D-5FA6-4D77-B347-14545BAF58B2}"/>
          </ac:spMkLst>
        </pc:spChg>
      </pc:sldChg>
      <pc:sldChg chg="modSp mod">
        <pc:chgData name="Husain Z. Kaka" userId="b86a7b92-7610-4407-a3ee-76772486fb95" providerId="ADAL" clId="{82D1230A-3059-4268-A0C9-9B186A36CD53}" dt="2026-08-15T08:53:25.704" v="73" actId="27636"/>
        <pc:sldMkLst>
          <pc:docMk/>
          <pc:sldMk cId="2139383213" sldId="278"/>
        </pc:sldMkLst>
        <pc:spChg chg="mod">
          <ac:chgData name="Husain Z. Kaka" userId="b86a7b92-7610-4407-a3ee-76772486fb95" providerId="ADAL" clId="{82D1230A-3059-4268-A0C9-9B186A36CD53}" dt="2026-08-14T20:28:03.775" v="50" actId="27636"/>
          <ac:spMkLst>
            <pc:docMk/>
            <pc:sldMk cId="2139383213" sldId="278"/>
            <ac:spMk id="16" creationId="{88A25BE6-373A-4B23-A92F-077185D7DF76}"/>
          </ac:spMkLst>
        </pc:spChg>
        <pc:spChg chg="mod">
          <ac:chgData name="Husain Z. Kaka" userId="b86a7b92-7610-4407-a3ee-76772486fb95" providerId="ADAL" clId="{82D1230A-3059-4268-A0C9-9B186A36CD53}" dt="2026-08-15T08:53:25.704" v="73" actId="27636"/>
          <ac:spMkLst>
            <pc:docMk/>
            <pc:sldMk cId="2139383213" sldId="278"/>
            <ac:spMk id="22" creationId="{4430C3F4-99F1-4C40-895A-78C1085A7852}"/>
          </ac:spMkLst>
        </pc:spChg>
      </pc:sldChg>
      <pc:sldChg chg="modSp mod">
        <pc:chgData name="Husain Z. Kaka" userId="b86a7b92-7610-4407-a3ee-76772486fb95" providerId="ADAL" clId="{82D1230A-3059-4268-A0C9-9B186A36CD53}" dt="2026-08-14T20:28:03.789" v="51" actId="27636"/>
        <pc:sldMkLst>
          <pc:docMk/>
          <pc:sldMk cId="667397032" sldId="279"/>
        </pc:sldMkLst>
        <pc:spChg chg="mod">
          <ac:chgData name="Husain Z. Kaka" userId="b86a7b92-7610-4407-a3ee-76772486fb95" providerId="ADAL" clId="{82D1230A-3059-4268-A0C9-9B186A36CD53}" dt="2026-08-14T20:28:03.789" v="51" actId="27636"/>
          <ac:spMkLst>
            <pc:docMk/>
            <pc:sldMk cId="667397032" sldId="279"/>
            <ac:spMk id="2" creationId="{885B090A-E428-46BE-9255-E7ECF1F3E0DB}"/>
          </ac:spMkLst>
        </pc:spChg>
      </pc:sldChg>
      <pc:sldChg chg="modSp mod">
        <pc:chgData name="Husain Z. Kaka" userId="b86a7b92-7610-4407-a3ee-76772486fb95" providerId="ADAL" clId="{82D1230A-3059-4268-A0C9-9B186A36CD53}" dt="2026-08-14T20:28:03.812" v="52" actId="27636"/>
        <pc:sldMkLst>
          <pc:docMk/>
          <pc:sldMk cId="1125133622" sldId="280"/>
        </pc:sldMkLst>
        <pc:spChg chg="mod">
          <ac:chgData name="Husain Z. Kaka" userId="b86a7b92-7610-4407-a3ee-76772486fb95" providerId="ADAL" clId="{82D1230A-3059-4268-A0C9-9B186A36CD53}" dt="2026-08-14T20:28:03.812" v="52" actId="27636"/>
          <ac:spMkLst>
            <pc:docMk/>
            <pc:sldMk cId="1125133622" sldId="280"/>
            <ac:spMk id="2" creationId="{E891C20C-3970-4245-A83A-4C1BDFF22D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RepairTrack as a complete web information system for repair businesses. State the academic context and the central design goal: one reliable record from device intake to collection.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Preview the presentation sequence. Emphasize that the presentation moves from the real operational problem to verified implementation evidence and deployment readiness.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problem as information fragmentation across the repair lifecycle. Explain how this weakens traceability, customer trust, inventory accuracy and financial control.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general objective, then connect each specific objective to a business risk identified on the previous slide.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role-based access is enforced by backend authorization and object ownership checks, not only by hiding menu items.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a request from the browser to the API and database. Explain why separation improves maintainability, security and testability.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the normalized model and its four logical domains. Highlight businessId as the central tenant-isolation key and status history/audit logs as append-only evidence.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workflow is encoded as an allowed-transition map. Users cannot jump arbitrarily between states, which preserves process integrity.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actual sign-in screen to explain the authentication journey. Mention that provider credentials are configured through environment variables rather than committed source.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how the dashboard supports daily decisions. Different roles receive different metrics; the super administrator receives aggregate tenant health without confidential repair detail.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intake fields and the uniqueness of both the internal reference and the separate public tracking token.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screen to show how a single record replaces disconnected job cards and messages. Point out visibility controls for notes and the status timeline.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one-to-many relationship between customers and devices. Highlight data minimization: RepairTrack does not accept device passcodes in this implementation.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stock register and explain the transaction-based approach. Parts attached to a repair are consumed within a database transaction and use the recorded selling price for billing.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Discuss invoice calculation and serializable payment recording. Clarify that the M-Pesa boundary requires a verified transaction reference and does not fake provider confirmation.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the public tracking page. Explain that the token is random and revocable, while the projection contains only customer-safe fields.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the notification pipeline and how business preferences control in-app and email channels. Failed delivery does not silently disappear; it is recorded for operational follow-up.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all report queries are tenant-scoped. The screen supports date filters and CSV export, while the dashboard emphasizes immediate operational signals.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defence in depth. Stress that client-side route guards improve usability but the backend independently enforces authorization and tenant isolation.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responsive shell, reusable feedback states and theme system. Mention the deliberate code-splitting of route modules and server-state caching through React Query.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only measured project results. Explain that the backend test suite includes unauthorized access, invalid and expired JWTs, standardized errors, password hashing, repair transitions and payment evidence.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iterative quality process rather than only the final numbers. Mention that build, schema, security and documentation checks are included alongside tests.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Describe a practical deployment topology and the production controls that must accompany it. Explain that environment-specific providers are intentionally not hard-coded.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Distinguish implemented functionality from environment-dependent verification and future enhancements. This demonstrates honest project evaluation rather than overstating production readiness.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returning to the original problem: fragmented repair information. Summarize how RepairTrack creates traceability, customer visibility and management control, then invite questions.</a:t>
            </a:r>
          </a:p>
          <a:p>
            <a:endParaRPr/>
          </a:p>
          <a:p>
            <a:r>
              <a:t>[Sources]</a:t>
            </a:r>
          </a:p>
          <a:p>
            <a:r>
              <a:t>- RepairTrack repository source code and project documentation (local workspace, accessed 12 August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ackboard.usiu.ac.ke/ultra/courses/_40505_1/outline/roster/edit/_1255495_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09B5A4A-DF7F-4978-B71F-764CD99EC3D2}"/>
              </a:ext>
            </a:extLst>
          </p:cNvPr>
          <p:cNvSpPr>
            <a:spLocks noGrp="1"/>
          </p:cNvSpPr>
          <p:nvPr/>
        </p:nvSpPr>
        <p:spPr>
          <a:xfrm>
            <a:off x="6267450" y="0"/>
            <a:ext cx="5924550" cy="68580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F9DAA0-87FC-4154-BFA7-43029489B480}"/>
              </a:ext>
            </a:extLst>
          </p:cNvPr>
          <p:cNvSpPr>
            <a:spLocks noGrp="1"/>
          </p:cNvSpPr>
          <p:nvPr/>
        </p:nvSpPr>
        <p:spPr>
          <a:xfrm>
            <a:off x="6572250" y="609600"/>
            <a:ext cx="838200" cy="838200"/>
          </a:xfrm>
          <a:prstGeom prst="roundRect">
            <a:avLst>
              <a:gd name="adj" fmla="val 15909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D696D5-4D8D-443E-AF4C-C1FEF3C3D938}"/>
              </a:ext>
            </a:extLst>
          </p:cNvPr>
          <p:cNvSpPr>
            <a:spLocks noGrp="1"/>
          </p:cNvSpPr>
          <p:nvPr/>
        </p:nvSpPr>
        <p:spPr>
          <a:xfrm>
            <a:off x="6572250" y="752475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82CBA8-3B08-4EAE-869E-D9E20A56B313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FINAL PROJECT 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CB434C-1679-4B89-B278-AE0E4FDD64BE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5334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RepairTrack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791DA2-3D92-4D93-AB92-B9458659FFD7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5334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Web-Based Repair Management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BE636C-3560-4D16-8691-4FF71DA1E87C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85725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C7DB56-D792-4854-B2CF-D0F16122B559}"/>
              </a:ext>
            </a:extLst>
          </p:cNvPr>
          <p:cNvSpPr>
            <a:spLocks noGrp="1"/>
          </p:cNvSpPr>
          <p:nvPr/>
        </p:nvSpPr>
        <p:spPr>
          <a:xfrm>
            <a:off x="514350" y="4114800"/>
            <a:ext cx="5143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APT 3065 </a:t>
            </a:r>
            <a:r>
              <a:rPr lang="en-US" sz="150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Mid Sem</a:t>
            </a:r>
            <a:r>
              <a:rPr sz="1500" b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Project</a:t>
            </a:r>
          </a:p>
          <a:p>
            <a:pPr algn="l"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United States International University-Africa</a:t>
            </a:r>
          </a:p>
          <a:p>
            <a:pPr algn="l"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BEA75D-B782-422D-AAD1-6B540B8E7217}"/>
              </a:ext>
            </a:extLst>
          </p:cNvPr>
          <p:cNvSpPr>
            <a:spLocks noGrp="1"/>
          </p:cNvSpPr>
          <p:nvPr/>
        </p:nvSpPr>
        <p:spPr>
          <a:xfrm>
            <a:off x="6724650" y="2000250"/>
            <a:ext cx="4476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secure, multi-tenant web platform connecting repair intake, workshop execution, inventory, billing, customer tracking and accountable administration.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B22956-4CD7-4CEA-BA4A-5848D66F6D79}"/>
              </a:ext>
            </a:extLst>
          </p:cNvPr>
          <p:cNvSpPr>
            <a:spLocks noGrp="1"/>
          </p:cNvSpPr>
          <p:nvPr/>
        </p:nvSpPr>
        <p:spPr>
          <a:xfrm>
            <a:off x="6724650" y="4762500"/>
            <a:ext cx="4476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Presented by: </a:t>
            </a:r>
            <a:r>
              <a:rPr lang="en-US" sz="1425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Husain Kaka</a:t>
            </a:r>
            <a:endParaRPr sz="1425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Student ID: </a:t>
            </a:r>
            <a:r>
              <a:rPr lang="en-US" sz="1425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666724</a:t>
            </a:r>
            <a:endParaRPr sz="1425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>
              <a:defRPr sz="14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Supervisor: </a:t>
            </a:r>
            <a:r>
              <a:rPr lang="en-US" sz="1425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Prof. </a:t>
            </a:r>
            <a:r>
              <a:rPr lang="en-KE" sz="1425" b="1" u="sng" dirty="0"/>
              <a:t>Patrick Wamuyu</a:t>
            </a:r>
            <a:endParaRPr lang="en-KE" sz="1425" b="1" u="sng" dirty="0">
              <a:hlinkClick r:id="rId3"/>
            </a:endParaRPr>
          </a:p>
          <a:p>
            <a:pPr algn="l">
              <a:defRPr sz="14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endParaRPr sz="1425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688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B2944E4-D046-47AA-A58B-EA4F5CDBC9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0D7E3D-68BE-4C66-AA13-FDFE76CBF5F0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Presentation roadmap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433A55-F0DD-47A2-9CFA-88A78CB375BA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B8C6E-4089-4A18-B4EB-1F1C838AE3FC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3C896-F7B9-4035-8D21-FD0E17DBEBBC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113919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503FF-1EDE-471B-92F8-2271C61CA5FD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D5A749-9674-491A-874D-2C8C30BF9614}"/>
              </a:ext>
            </a:extLst>
          </p:cNvPr>
          <p:cNvSpPr>
            <a:spLocks noGrp="1"/>
          </p:cNvSpPr>
          <p:nvPr/>
        </p:nvSpPr>
        <p:spPr>
          <a:xfrm>
            <a:off x="1562100" y="1857375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Problem context and project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0716E9-6330-4491-9F6E-FF99DA0F45D8}"/>
              </a:ext>
            </a:extLst>
          </p:cNvPr>
          <p:cNvSpPr>
            <a:spLocks noGrp="1"/>
          </p:cNvSpPr>
          <p:nvPr/>
        </p:nvSpPr>
        <p:spPr>
          <a:xfrm>
            <a:off x="400050" y="2447925"/>
            <a:ext cx="113919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B61202-6455-4EF9-BE46-6271C0FFA1C9}"/>
              </a:ext>
            </a:extLst>
          </p:cNvPr>
          <p:cNvSpPr>
            <a:spLocks noGrp="1"/>
          </p:cNvSpPr>
          <p:nvPr/>
        </p:nvSpPr>
        <p:spPr>
          <a:xfrm>
            <a:off x="590550" y="258127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354261-9F65-42E9-A26C-00505FDDC88B}"/>
              </a:ext>
            </a:extLst>
          </p:cNvPr>
          <p:cNvSpPr>
            <a:spLocks noGrp="1"/>
          </p:cNvSpPr>
          <p:nvPr/>
        </p:nvSpPr>
        <p:spPr>
          <a:xfrm>
            <a:off x="1562100" y="25527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Users, requirements and system scope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19B0F-6D97-4165-A922-7E9BF5E9B6A3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113919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93DBE3-31D6-43C0-B178-EB52BA929D9E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702040-B7E8-49FF-8897-2D06B9D772F2}"/>
              </a:ext>
            </a:extLst>
          </p:cNvPr>
          <p:cNvSpPr>
            <a:spLocks noGrp="1"/>
          </p:cNvSpPr>
          <p:nvPr/>
        </p:nvSpPr>
        <p:spPr>
          <a:xfrm>
            <a:off x="1562100" y="3248025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Architecture, database and workflow design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45F290-63B3-43E8-AA3D-95C3D51787B3}"/>
              </a:ext>
            </a:extLst>
          </p:cNvPr>
          <p:cNvSpPr>
            <a:spLocks noGrp="1"/>
          </p:cNvSpPr>
          <p:nvPr/>
        </p:nvSpPr>
        <p:spPr>
          <a:xfrm>
            <a:off x="400050" y="3838575"/>
            <a:ext cx="113919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4F6A52-8441-407B-818F-9A93D11B469E}"/>
              </a:ext>
            </a:extLst>
          </p:cNvPr>
          <p:cNvSpPr>
            <a:spLocks noGrp="1"/>
          </p:cNvSpPr>
          <p:nvPr/>
        </p:nvSpPr>
        <p:spPr>
          <a:xfrm>
            <a:off x="590550" y="397192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FC1BE2-0C63-414D-A1B0-AEAEBAD58EB6}"/>
              </a:ext>
            </a:extLst>
          </p:cNvPr>
          <p:cNvSpPr>
            <a:spLocks noGrp="1"/>
          </p:cNvSpPr>
          <p:nvPr/>
        </p:nvSpPr>
        <p:spPr>
          <a:xfrm>
            <a:off x="1562100" y="39433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Implemented web modules and interfaces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999CA7-E924-4132-9BAC-1EFC7D243547}"/>
              </a:ext>
            </a:extLst>
          </p:cNvPr>
          <p:cNvSpPr>
            <a:spLocks noGrp="1"/>
          </p:cNvSpPr>
          <p:nvPr/>
        </p:nvSpPr>
        <p:spPr>
          <a:xfrm>
            <a:off x="400050" y="4533900"/>
            <a:ext cx="113919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F990B5-60FA-43E9-9E81-B0611016C19B}"/>
              </a:ext>
            </a:extLst>
          </p:cNvPr>
          <p:cNvSpPr>
            <a:spLocks noGrp="1"/>
          </p:cNvSpPr>
          <p:nvPr/>
        </p:nvSpPr>
        <p:spPr>
          <a:xfrm>
            <a:off x="590550" y="466725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0F316E-0005-4BE7-BB7A-1FE01CA0D45C}"/>
              </a:ext>
            </a:extLst>
          </p:cNvPr>
          <p:cNvSpPr>
            <a:spLocks noGrp="1"/>
          </p:cNvSpPr>
          <p:nvPr/>
        </p:nvSpPr>
        <p:spPr>
          <a:xfrm>
            <a:off x="1562100" y="4638675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Security, validation and quality assurance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8A65EF-8264-467B-ADB9-C5FCFAF40D1B}"/>
              </a:ext>
            </a:extLst>
          </p:cNvPr>
          <p:cNvSpPr>
            <a:spLocks noGrp="1"/>
          </p:cNvSpPr>
          <p:nvPr/>
        </p:nvSpPr>
        <p:spPr>
          <a:xfrm>
            <a:off x="400050" y="5229225"/>
            <a:ext cx="113919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9DD34A-C733-4518-B8B6-F0B2946393D0}"/>
              </a:ext>
            </a:extLst>
          </p:cNvPr>
          <p:cNvSpPr>
            <a:spLocks noGrp="1"/>
          </p:cNvSpPr>
          <p:nvPr/>
        </p:nvSpPr>
        <p:spPr>
          <a:xfrm>
            <a:off x="590550" y="536257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6F9C1F-22F4-4FE0-95DA-62611C8B5E01}"/>
              </a:ext>
            </a:extLst>
          </p:cNvPr>
          <p:cNvSpPr>
            <a:spLocks noGrp="1"/>
          </p:cNvSpPr>
          <p:nvPr/>
        </p:nvSpPr>
        <p:spPr>
          <a:xfrm>
            <a:off x="1562100" y="53340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Deployment, limitations and future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221099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5662BBA-37AE-4774-8803-5DD809BEAA9E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B6EC79-7592-45DA-8D56-20B199C90322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 operations fail when information is fragmented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7996B1-6008-4AD1-9DF5-66DE90A85AF9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E1F96C-36D4-4441-9CDE-E91B4006DF00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C57CE-806A-4194-B33C-3D0027D6CFE5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5334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Many workshops still coordinate repairs using paper job cards, spreadsheets, messaging threads and memory. The result is not merely inconvenience; it creates operational and financial risk.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24603E-28CD-44E5-B10F-CAF84AE52CF8}"/>
              </a:ext>
            </a:extLst>
          </p:cNvPr>
          <p:cNvSpPr>
            <a:spLocks noGrp="1"/>
          </p:cNvSpPr>
          <p:nvPr/>
        </p:nvSpPr>
        <p:spPr>
          <a:xfrm>
            <a:off x="400050" y="3324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3F5D-76A4-44FD-9631-757A4147A755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 status is difficult to trace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5A1275-A718-44B2-B1AA-1DADBF6AF702}"/>
              </a:ext>
            </a:extLst>
          </p:cNvPr>
          <p:cNvSpPr>
            <a:spLocks noGrp="1"/>
          </p:cNvSpPr>
          <p:nvPr/>
        </p:nvSpPr>
        <p:spPr>
          <a:xfrm>
            <a:off x="400050" y="3800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5F1C4D-2D9A-4B3B-AE49-AA843FBAEF2C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Customers repeatedly request updates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17178D-7925-4DB0-82B9-3A1B59D4723A}"/>
              </a:ext>
            </a:extLst>
          </p:cNvPr>
          <p:cNvSpPr>
            <a:spLocks noGrp="1"/>
          </p:cNvSpPr>
          <p:nvPr/>
        </p:nvSpPr>
        <p:spPr>
          <a:xfrm>
            <a:off x="400050" y="42767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A192F9-AD3D-44BA-BF14-740DAA6A1DEF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Technician responsibility is unclear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44647E-7246-4714-BA5D-F7DDD9C26485}"/>
              </a:ext>
            </a:extLst>
          </p:cNvPr>
          <p:cNvSpPr>
            <a:spLocks noGrp="1"/>
          </p:cNvSpPr>
          <p:nvPr/>
        </p:nvSpPr>
        <p:spPr>
          <a:xfrm>
            <a:off x="400050" y="4752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872454-87A8-4D4D-86D1-43370CD7F7F8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Parts usage and stock changes diverge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DD1362-4D61-4FE6-9C04-FD19EEC5A2C7}"/>
              </a:ext>
            </a:extLst>
          </p:cNvPr>
          <p:cNvSpPr>
            <a:spLocks noGrp="1"/>
          </p:cNvSpPr>
          <p:nvPr/>
        </p:nvSpPr>
        <p:spPr>
          <a:xfrm>
            <a:off x="400050" y="5229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A5611A-B843-4DA3-87F5-28DF1D546E7E}"/>
              </a:ext>
            </a:extLst>
          </p:cNvPr>
          <p:cNvSpPr>
            <a:spLocks noGrp="1"/>
          </p:cNvSpPr>
          <p:nvPr/>
        </p:nvSpPr>
        <p:spPr>
          <a:xfrm>
            <a:off x="666750" y="5162550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Invoices, payments and receipts become disconnected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8401-930C-4D4D-B79F-7FE2AC019AD3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5467350" cy="40957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4E8933-5771-4929-B3B4-675F5536E53C}"/>
              </a:ext>
            </a:extLst>
          </p:cNvPr>
          <p:cNvSpPr>
            <a:spLocks noGrp="1"/>
          </p:cNvSpPr>
          <p:nvPr/>
        </p:nvSpPr>
        <p:spPr>
          <a:xfrm>
            <a:off x="6762750" y="21907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THE CORE GAP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A4028D-DDAE-40D8-B9FC-711047BEAC04}"/>
              </a:ext>
            </a:extLst>
          </p:cNvPr>
          <p:cNvSpPr>
            <a:spLocks noGrp="1"/>
          </p:cNvSpPr>
          <p:nvPr/>
        </p:nvSpPr>
        <p:spPr>
          <a:xfrm>
            <a:off x="6762750" y="2781300"/>
            <a:ext cx="4381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single, authoritative repair record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06272D-ED6A-4FFD-BBAD-389219C0C917}"/>
              </a:ext>
            </a:extLst>
          </p:cNvPr>
          <p:cNvSpPr>
            <a:spLocks noGrp="1"/>
          </p:cNvSpPr>
          <p:nvPr/>
        </p:nvSpPr>
        <p:spPr>
          <a:xfrm>
            <a:off x="6762750" y="4191000"/>
            <a:ext cx="4286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Without a shared system of record, every handoff introduces ambiguity, from reception to diagnosis, stock consumption, payment and customer collection.</a:t>
            </a:r>
          </a:p>
        </p:txBody>
      </p:sp>
    </p:spTree>
    <p:extLst>
      <p:ext uri="{BB962C8B-B14F-4D97-AF65-F5344CB8AC3E}">
        <p14:creationId xmlns:p14="http://schemas.microsoft.com/office/powerpoint/2010/main" val="184313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38D9276-16C9-46EC-AF25-E19A3BD57DA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2E085D-6CF6-4FB3-AABC-1C74267BE6C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70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project converts the repair lifecycle into one controlled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08103C-D7A4-4067-9B90-2A50D50BF51F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E2DF65-F2FF-431B-9F7F-9AEC0CBEE917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47A97-267C-4FB5-B511-EC9CC8B34FB7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GENERAL OBJECTIVE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98EA8-30C8-4579-A12F-9CD204118AD2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53340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Design and implement a secure web-based platform that manages repair businesses from intake to collection while maintaining role separation, tenant isolation and auditable records.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E9CEB6-5770-4135-A55B-9329B8260E33}"/>
              </a:ext>
            </a:extLst>
          </p:cNvPr>
          <p:cNvSpPr>
            <a:spLocks noGrp="1"/>
          </p:cNvSpPr>
          <p:nvPr/>
        </p:nvSpPr>
        <p:spPr>
          <a:xfrm>
            <a:off x="6191250" y="1752600"/>
            <a:ext cx="5600700" cy="39052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125466-BA79-4A5B-9AC9-C53E31442849}"/>
              </a:ext>
            </a:extLst>
          </p:cNvPr>
          <p:cNvSpPr>
            <a:spLocks noGrp="1"/>
          </p:cNvSpPr>
          <p:nvPr/>
        </p:nvSpPr>
        <p:spPr>
          <a:xfrm>
            <a:off x="6515100" y="2095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Specific objectives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F3BD95-682D-441D-8875-2923A2B911D0}"/>
              </a:ext>
            </a:extLst>
          </p:cNvPr>
          <p:cNvSpPr>
            <a:spLocks noGrp="1"/>
          </p:cNvSpPr>
          <p:nvPr/>
        </p:nvSpPr>
        <p:spPr>
          <a:xfrm>
            <a:off x="6515100" y="2847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1FD660-E7A5-4130-B9C7-E9462AD0D28E}"/>
              </a:ext>
            </a:extLst>
          </p:cNvPr>
          <p:cNvSpPr>
            <a:spLocks noGrp="1"/>
          </p:cNvSpPr>
          <p:nvPr/>
        </p:nvSpPr>
        <p:spPr>
          <a:xfrm>
            <a:off x="6781800" y="2781300"/>
            <a:ext cx="4495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Digitize customers, devices and repair tickets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1D4F4D-01DA-40B4-A312-224949A7BF12}"/>
              </a:ext>
            </a:extLst>
          </p:cNvPr>
          <p:cNvSpPr>
            <a:spLocks noGrp="1"/>
          </p:cNvSpPr>
          <p:nvPr/>
        </p:nvSpPr>
        <p:spPr>
          <a:xfrm>
            <a:off x="6515100" y="33718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5C1792-24D0-4406-B520-222FF4FC4CA3}"/>
              </a:ext>
            </a:extLst>
          </p:cNvPr>
          <p:cNvSpPr>
            <a:spLocks noGrp="1"/>
          </p:cNvSpPr>
          <p:nvPr/>
        </p:nvSpPr>
        <p:spPr>
          <a:xfrm>
            <a:off x="6781800" y="3305175"/>
            <a:ext cx="4495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Coordinate assignments, notes, parts and status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F3D713-413F-4CF4-A7BD-5FFA12EAA365}"/>
              </a:ext>
            </a:extLst>
          </p:cNvPr>
          <p:cNvSpPr>
            <a:spLocks noGrp="1"/>
          </p:cNvSpPr>
          <p:nvPr/>
        </p:nvSpPr>
        <p:spPr>
          <a:xfrm>
            <a:off x="6515100" y="38957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7B6E6-CC37-4966-91A5-7B3337363963}"/>
              </a:ext>
            </a:extLst>
          </p:cNvPr>
          <p:cNvSpPr>
            <a:spLocks noGrp="1"/>
          </p:cNvSpPr>
          <p:nvPr/>
        </p:nvSpPr>
        <p:spPr>
          <a:xfrm>
            <a:off x="6781800" y="3829050"/>
            <a:ext cx="4495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Generate invoices, receipts and payment records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3FF4F48-BC02-4B2A-8D29-D9B0DDFB2170}"/>
              </a:ext>
            </a:extLst>
          </p:cNvPr>
          <p:cNvSpPr>
            <a:spLocks noGrp="1"/>
          </p:cNvSpPr>
          <p:nvPr/>
        </p:nvSpPr>
        <p:spPr>
          <a:xfrm>
            <a:off x="6515100" y="4419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A6FDF3-89E7-4254-9250-1E66C926DF05}"/>
              </a:ext>
            </a:extLst>
          </p:cNvPr>
          <p:cNvSpPr>
            <a:spLocks noGrp="1"/>
          </p:cNvSpPr>
          <p:nvPr/>
        </p:nvSpPr>
        <p:spPr>
          <a:xfrm>
            <a:off x="6781800" y="4352925"/>
            <a:ext cx="4495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Provide secure public and authenticated tracking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9620D6-E1DD-4C10-876A-3BF7A1AAED0F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587D1E-E0E5-4541-9776-EFDF2E8A53B5}"/>
              </a:ext>
            </a:extLst>
          </p:cNvPr>
          <p:cNvSpPr>
            <a:spLocks noGrp="1"/>
          </p:cNvSpPr>
          <p:nvPr/>
        </p:nvSpPr>
        <p:spPr>
          <a:xfrm>
            <a:off x="6781800" y="4876800"/>
            <a:ext cx="4495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Produce operational reports and immutable audit evidence</a:t>
            </a:r>
          </a:p>
        </p:txBody>
      </p:sp>
    </p:spTree>
    <p:extLst>
      <p:ext uri="{BB962C8B-B14F-4D97-AF65-F5344CB8AC3E}">
        <p14:creationId xmlns:p14="http://schemas.microsoft.com/office/powerpoint/2010/main" val="346594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1BB2C4F-990E-477B-857B-323A1E073B94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5F68B9-57C7-49E4-AFBA-6424689CB5D9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Four roles receive deliberately different views and permissions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42C5BB-35FB-4E6E-8C30-D0DC3EE3B6DA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4263DE-91CF-4D44-8424-FD5DC5690FE9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46D114-E966-4F27-B070-2F29C6F766EA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5429250" cy="17907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BD89A6-181A-44B2-883F-F34975017ABF}"/>
              </a:ext>
            </a:extLst>
          </p:cNvPr>
          <p:cNvSpPr>
            <a:spLocks noGrp="1"/>
          </p:cNvSpPr>
          <p:nvPr/>
        </p:nvSpPr>
        <p:spPr>
          <a:xfrm>
            <a:off x="647700" y="19812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SUPER ADMIN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88C2DA-34F1-43E8-B62A-B34166424A4E}"/>
              </a:ext>
            </a:extLst>
          </p:cNvPr>
          <p:cNvSpPr>
            <a:spLocks noGrp="1"/>
          </p:cNvSpPr>
          <p:nvPr/>
        </p:nvSpPr>
        <p:spPr>
          <a:xfrm>
            <a:off x="647700" y="2362200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Platform governance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FE3654-8002-4865-A92A-1D68B00C5092}"/>
              </a:ext>
            </a:extLst>
          </p:cNvPr>
          <p:cNvSpPr>
            <a:spLocks noGrp="1"/>
          </p:cNvSpPr>
          <p:nvPr/>
        </p:nvSpPr>
        <p:spPr>
          <a:xfrm>
            <a:off x="647700" y="2819400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Onboards businesses, controls tenant status, reviews aggregate platform health and system audit activity.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FDB7F9-FBFC-4920-A94F-61BD3418F40D}"/>
              </a:ext>
            </a:extLst>
          </p:cNvPr>
          <p:cNvSpPr>
            <a:spLocks noGrp="1"/>
          </p:cNvSpPr>
          <p:nvPr/>
        </p:nvSpPr>
        <p:spPr>
          <a:xfrm>
            <a:off x="6191250" y="1752600"/>
            <a:ext cx="5429250" cy="17907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C7017B-C257-4568-9CBA-99C4CEC75862}"/>
              </a:ext>
            </a:extLst>
          </p:cNvPr>
          <p:cNvSpPr>
            <a:spLocks noGrp="1"/>
          </p:cNvSpPr>
          <p:nvPr/>
        </p:nvSpPr>
        <p:spPr>
          <a:xfrm>
            <a:off x="6438900" y="19812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BUSINESS ADMIN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9B4C00-E008-4524-9D41-1D2626AD3581}"/>
              </a:ext>
            </a:extLst>
          </p:cNvPr>
          <p:cNvSpPr>
            <a:spLocks noGrp="1"/>
          </p:cNvSpPr>
          <p:nvPr/>
        </p:nvSpPr>
        <p:spPr>
          <a:xfrm>
            <a:off x="6438900" y="2362200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Workshop control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11E460-705A-4277-8BB4-8D84392D3B75}"/>
              </a:ext>
            </a:extLst>
          </p:cNvPr>
          <p:cNvSpPr>
            <a:spLocks noGrp="1"/>
          </p:cNvSpPr>
          <p:nvPr/>
        </p:nvSpPr>
        <p:spPr>
          <a:xfrm>
            <a:off x="6438900" y="2819400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Manages customers, devices, technicians, repairs, stock, invoices, payments, reports and settings.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F03A5B-3D79-4381-B34D-5FC98FF27E6D}"/>
              </a:ext>
            </a:extLst>
          </p:cNvPr>
          <p:cNvSpPr>
            <a:spLocks noGrp="1"/>
          </p:cNvSpPr>
          <p:nvPr/>
        </p:nvSpPr>
        <p:spPr>
          <a:xfrm>
            <a:off x="400050" y="3790950"/>
            <a:ext cx="5429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18F04-A922-45CB-A22E-2939D9F3920F}"/>
              </a:ext>
            </a:extLst>
          </p:cNvPr>
          <p:cNvSpPr>
            <a:spLocks noGrp="1"/>
          </p:cNvSpPr>
          <p:nvPr/>
        </p:nvSpPr>
        <p:spPr>
          <a:xfrm>
            <a:off x="647700" y="40195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TECHNICIAN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B14F86-9B1A-45C7-97B2-FE1838EB2D37}"/>
              </a:ext>
            </a:extLst>
          </p:cNvPr>
          <p:cNvSpPr>
            <a:spLocks noGrp="1"/>
          </p:cNvSpPr>
          <p:nvPr/>
        </p:nvSpPr>
        <p:spPr>
          <a:xfrm>
            <a:off x="647700" y="4400550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Assigned execution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0ACC58-7702-4451-8C4A-D7B266D54B5B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Works only on authorized jobs: accepts assignments, diagnoses, records notes/parts and advances valid statuses.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D88E60-ACDC-46B0-8DB7-593427EACDAC}"/>
              </a:ext>
            </a:extLst>
          </p:cNvPr>
          <p:cNvSpPr>
            <a:spLocks noGrp="1"/>
          </p:cNvSpPr>
          <p:nvPr/>
        </p:nvSpPr>
        <p:spPr>
          <a:xfrm>
            <a:off x="6191250" y="3790950"/>
            <a:ext cx="5429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69F871-A6D5-4D95-AFF0-CA56DA08EE58}"/>
              </a:ext>
            </a:extLst>
          </p:cNvPr>
          <p:cNvSpPr>
            <a:spLocks noGrp="1"/>
          </p:cNvSpPr>
          <p:nvPr/>
        </p:nvSpPr>
        <p:spPr>
          <a:xfrm>
            <a:off x="6438900" y="40195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BA0569-E877-4021-9951-F8F36D03CEC0}"/>
              </a:ext>
            </a:extLst>
          </p:cNvPr>
          <p:cNvSpPr>
            <a:spLocks noGrp="1"/>
          </p:cNvSpPr>
          <p:nvPr/>
        </p:nvSpPr>
        <p:spPr>
          <a:xfrm>
            <a:off x="6438900" y="4400550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Transparent self-service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99A5EB-3D0B-4E6D-85AB-54930D289314}"/>
              </a:ext>
            </a:extLst>
          </p:cNvPr>
          <p:cNvSpPr>
            <a:spLocks noGrp="1"/>
          </p:cNvSpPr>
          <p:nvPr/>
        </p:nvSpPr>
        <p:spPr>
          <a:xfrm>
            <a:off x="6438900" y="4857750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Views only owned repairs, invoices, receipts, payment state and customer-visible updates.</a:t>
            </a:r>
          </a:p>
        </p:txBody>
      </p:sp>
    </p:spTree>
    <p:extLst>
      <p:ext uri="{BB962C8B-B14F-4D97-AF65-F5344CB8AC3E}">
        <p14:creationId xmlns:p14="http://schemas.microsoft.com/office/powerpoint/2010/main" val="186497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F07937-22EC-46D4-AF2A-A90BA6F4CBC6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80280C-D7A8-49EB-824F-E5E17C4EFB12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709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three-tier architecture separates interface, business logic and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4B5570-DFBC-4EED-82D8-CEA912C5A7BE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A62B53-B058-4AC1-81AE-77DEEDB32F12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894281-7032-47FA-9E76-E1EECE14BC5E}"/>
              </a:ext>
            </a:extLst>
          </p:cNvPr>
          <p:cNvSpPr>
            <a:spLocks noGrp="1"/>
          </p:cNvSpPr>
          <p:nvPr/>
        </p:nvSpPr>
        <p:spPr>
          <a:xfrm>
            <a:off x="571500" y="2419350"/>
            <a:ext cx="2647950" cy="203835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073EA-6389-4E08-A29A-BB857284C91F}"/>
              </a:ext>
            </a:extLst>
          </p:cNvPr>
          <p:cNvSpPr>
            <a:spLocks noGrp="1"/>
          </p:cNvSpPr>
          <p:nvPr/>
        </p:nvSpPr>
        <p:spPr>
          <a:xfrm>
            <a:off x="4781550" y="2419350"/>
            <a:ext cx="2647950" cy="20383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EF62F1-FBE8-41A8-931A-C4C01CBE3DDE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2647950" cy="203835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cxnSp>
        <p:nvCxnSpPr>
          <p:cNvPr id="27" name="Straight Arrow Connector 26"/>
          <p:cNvCxnSpPr>
            <a:stCxn id="5" idx="3"/>
            <a:endCxn id="6" idx="1"/>
          </p:cNvCxnSpPr>
          <p:nvPr/>
        </p:nvCxnSpPr>
        <p:spPr>
          <a:xfrm>
            <a:off x="3219450" y="3438525"/>
            <a:ext cx="15621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28" name="Straight Arrow Connector 27"/>
          <p:cNvCxnSpPr>
            <a:stCxn id="6" idx="3"/>
            <a:endCxn id="7" idx="1"/>
          </p:cNvCxnSpPr>
          <p:nvPr/>
        </p:nvCxnSpPr>
        <p:spPr>
          <a:xfrm>
            <a:off x="7429500" y="3438525"/>
            <a:ext cx="15621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816F423-184F-44CB-B7CB-504E758AE304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207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7D2E62-6B56-403A-AB8A-9BB0167EE945}"/>
              </a:ext>
            </a:extLst>
          </p:cNvPr>
          <p:cNvSpPr>
            <a:spLocks noGrp="1"/>
          </p:cNvSpPr>
          <p:nvPr/>
        </p:nvSpPr>
        <p:spPr>
          <a:xfrm>
            <a:off x="809625" y="3162300"/>
            <a:ext cx="2171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62C66C-66EA-4072-8734-0F80CE2B6D41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Vite | Material UI</a:t>
            </a:r>
          </a:p>
          <a:p>
            <a:pPr algn="ctr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React Query | Router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2F96AA-2790-4B90-968F-56E2237BD148}"/>
              </a:ext>
            </a:extLst>
          </p:cNvPr>
          <p:cNvSpPr>
            <a:spLocks noGrp="1"/>
          </p:cNvSpPr>
          <p:nvPr/>
        </p:nvSpPr>
        <p:spPr>
          <a:xfrm>
            <a:off x="5067300" y="2667000"/>
            <a:ext cx="207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C30ED9-4A90-4F9E-89A3-D13300848D36}"/>
              </a:ext>
            </a:extLst>
          </p:cNvPr>
          <p:cNvSpPr>
            <a:spLocks noGrp="1"/>
          </p:cNvSpPr>
          <p:nvPr/>
        </p:nvSpPr>
        <p:spPr>
          <a:xfrm>
            <a:off x="5019675" y="3162300"/>
            <a:ext cx="2171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ADDE24-92BA-4110-9BF3-752F43269C1F}"/>
              </a:ext>
            </a:extLst>
          </p:cNvPr>
          <p:cNvSpPr>
            <a:spLocks noGrp="1"/>
          </p:cNvSpPr>
          <p:nvPr/>
        </p:nvSpPr>
        <p:spPr>
          <a:xfrm>
            <a:off x="5067300" y="373380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75"/>
          </a:bodyPr>
          <a:lstStyle/>
          <a:p>
            <a:pPr algn="ctr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Express + TypeScript</a:t>
            </a:r>
          </a:p>
          <a:p>
            <a:pPr algn="ctr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Validation | RBAC | Services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4B712E-9D24-4BED-B460-616BC210EBE6}"/>
              </a:ext>
            </a:extLst>
          </p:cNvPr>
          <p:cNvSpPr>
            <a:spLocks noGrp="1"/>
          </p:cNvSpPr>
          <p:nvPr/>
        </p:nvSpPr>
        <p:spPr>
          <a:xfrm>
            <a:off x="9277350" y="2667000"/>
            <a:ext cx="207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62DE6F-90EA-4689-A02A-1F957FD85FDB}"/>
              </a:ext>
            </a:extLst>
          </p:cNvPr>
          <p:cNvSpPr>
            <a:spLocks noGrp="1"/>
          </p:cNvSpPr>
          <p:nvPr/>
        </p:nvSpPr>
        <p:spPr>
          <a:xfrm>
            <a:off x="9229725" y="3162300"/>
            <a:ext cx="2171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EF824E-D8CA-4836-A43B-0B5A893F36CA}"/>
              </a:ext>
            </a:extLst>
          </p:cNvPr>
          <p:cNvSpPr>
            <a:spLocks noGrp="1"/>
          </p:cNvSpPr>
          <p:nvPr/>
        </p:nvSpPr>
        <p:spPr>
          <a:xfrm>
            <a:off x="9277350" y="373380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47"/>
          </a:bodyPr>
          <a:lstStyle/>
          <a:p>
            <a:pPr algn="ctr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Prisma ORM | 3NF schema</a:t>
            </a:r>
          </a:p>
          <a:p>
            <a:pPr algn="ctr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Transactions | Migrations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67AE9A-31B9-49E8-9739-9640CFDF9234}"/>
              </a:ext>
            </a:extLst>
          </p:cNvPr>
          <p:cNvSpPr>
            <a:spLocks noGrp="1"/>
          </p:cNvSpPr>
          <p:nvPr/>
        </p:nvSpPr>
        <p:spPr>
          <a:xfrm>
            <a:off x="2400300" y="5048250"/>
            <a:ext cx="742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JWT access tokens and rotating refresh sessions secure every authenticated request.</a:t>
            </a:r>
          </a:p>
        </p:txBody>
      </p:sp>
    </p:spTree>
    <p:extLst>
      <p:ext uri="{BB962C8B-B14F-4D97-AF65-F5344CB8AC3E}">
        <p14:creationId xmlns:p14="http://schemas.microsoft.com/office/powerpoint/2010/main" val="748123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6C02851-4C32-4419-8EA8-E42E5BFD3172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1A965C-A452-4868-B690-2991235A38A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188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data model preserves business ownership and repair history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06366-A989-48AD-8FF6-31DAE06FDEA3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73CB6-69CB-4C48-A794-CD34E7916663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665264-E7DD-4797-9745-051C366A8E35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A7300E-C04D-447B-9BD4-FC3CC5DCC5D9}"/>
              </a:ext>
            </a:extLst>
          </p:cNvPr>
          <p:cNvSpPr>
            <a:spLocks noGrp="1"/>
          </p:cNvSpPr>
          <p:nvPr/>
        </p:nvSpPr>
        <p:spPr>
          <a:xfrm>
            <a:off x="400050" y="23812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normalized tables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A7F183-710F-40BB-BD2F-BE90B1B22149}"/>
              </a:ext>
            </a:extLst>
          </p:cNvPr>
          <p:cNvSpPr>
            <a:spLocks noGrp="1"/>
          </p:cNvSpPr>
          <p:nvPr/>
        </p:nvSpPr>
        <p:spPr>
          <a:xfrm>
            <a:off x="2724150" y="1714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8CA393-4198-47C0-990A-EB69E8B4650D}"/>
              </a:ext>
            </a:extLst>
          </p:cNvPr>
          <p:cNvSpPr>
            <a:spLocks noGrp="1"/>
          </p:cNvSpPr>
          <p:nvPr/>
        </p:nvSpPr>
        <p:spPr>
          <a:xfrm>
            <a:off x="2724150" y="23812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foreign keys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3D4D72-A16F-464F-8E06-AC38A1871647}"/>
              </a:ext>
            </a:extLst>
          </p:cNvPr>
          <p:cNvSpPr>
            <a:spLocks noGrp="1"/>
          </p:cNvSpPr>
          <p:nvPr/>
        </p:nvSpPr>
        <p:spPr>
          <a:xfrm>
            <a:off x="5010150" y="1714500"/>
            <a:ext cx="3105150" cy="169545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ECD26A-26A6-4486-8571-C141EE4C1425}"/>
              </a:ext>
            </a:extLst>
          </p:cNvPr>
          <p:cNvSpPr>
            <a:spLocks noGrp="1"/>
          </p:cNvSpPr>
          <p:nvPr/>
        </p:nvSpPr>
        <p:spPr>
          <a:xfrm>
            <a:off x="5219700" y="19240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Identity &amp; tenancy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4332A5-6109-45F6-B9AB-CDF0AA8CF379}"/>
              </a:ext>
            </a:extLst>
          </p:cNvPr>
          <p:cNvSpPr>
            <a:spLocks noGrp="1"/>
          </p:cNvSpPr>
          <p:nvPr/>
        </p:nvSpPr>
        <p:spPr>
          <a:xfrm>
            <a:off x="5219700" y="2438400"/>
            <a:ext cx="266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businesses | roles | users | sessions</a:t>
            </a:r>
          </a:p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settings | setup lock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5C7D63-8A61-47D0-9C38-372BB5B7F406}"/>
              </a:ext>
            </a:extLst>
          </p:cNvPr>
          <p:cNvSpPr>
            <a:spLocks noGrp="1"/>
          </p:cNvSpPr>
          <p:nvPr/>
        </p:nvSpPr>
        <p:spPr>
          <a:xfrm>
            <a:off x="8391525" y="1714500"/>
            <a:ext cx="3105150" cy="1695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3DE513-2340-4A66-B963-97C0B173D736}"/>
              </a:ext>
            </a:extLst>
          </p:cNvPr>
          <p:cNvSpPr>
            <a:spLocks noGrp="1"/>
          </p:cNvSpPr>
          <p:nvPr/>
        </p:nvSpPr>
        <p:spPr>
          <a:xfrm>
            <a:off x="8601075" y="19240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 operations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CA96C-39F0-48B6-B13D-D6CCFDEBA676}"/>
              </a:ext>
            </a:extLst>
          </p:cNvPr>
          <p:cNvSpPr>
            <a:spLocks noGrp="1"/>
          </p:cNvSpPr>
          <p:nvPr/>
        </p:nvSpPr>
        <p:spPr>
          <a:xfrm>
            <a:off x="8601075" y="2438400"/>
            <a:ext cx="266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customers | devices | repairs</a:t>
            </a:r>
          </a:p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status history | notes | assignments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03AF20-4F4A-4F03-AE6B-D512272B91C9}"/>
              </a:ext>
            </a:extLst>
          </p:cNvPr>
          <p:cNvSpPr>
            <a:spLocks noGrp="1"/>
          </p:cNvSpPr>
          <p:nvPr/>
        </p:nvSpPr>
        <p:spPr>
          <a:xfrm>
            <a:off x="5010150" y="3676650"/>
            <a:ext cx="3105150" cy="1695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78DDAB-2132-4728-9A45-860310191AB8}"/>
              </a:ext>
            </a:extLst>
          </p:cNvPr>
          <p:cNvSpPr>
            <a:spLocks noGrp="1"/>
          </p:cNvSpPr>
          <p:nvPr/>
        </p:nvSpPr>
        <p:spPr>
          <a:xfrm>
            <a:off x="5219700" y="38862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Stock &amp; billing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178F0E-9E89-4146-AA6E-0BAEF8F3DE7A}"/>
              </a:ext>
            </a:extLst>
          </p:cNvPr>
          <p:cNvSpPr>
            <a:spLocks noGrp="1"/>
          </p:cNvSpPr>
          <p:nvPr/>
        </p:nvSpPr>
        <p:spPr>
          <a:xfrm>
            <a:off x="5219700" y="4400550"/>
            <a:ext cx="266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85" lnSpcReduction="10000"/>
          </a:bodyPr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inventory items | transactions | suppliers</a:t>
            </a:r>
          </a:p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repair parts | invoices | payments | receipts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C595EA-89BB-4A86-A63C-8A54909A4082}"/>
              </a:ext>
            </a:extLst>
          </p:cNvPr>
          <p:cNvSpPr>
            <a:spLocks noGrp="1"/>
          </p:cNvSpPr>
          <p:nvPr/>
        </p:nvSpPr>
        <p:spPr>
          <a:xfrm>
            <a:off x="8391525" y="3676650"/>
            <a:ext cx="3105150" cy="1695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70B094-B688-49A9-819F-91BAFFD2CB2D}"/>
              </a:ext>
            </a:extLst>
          </p:cNvPr>
          <p:cNvSpPr>
            <a:spLocks noGrp="1"/>
          </p:cNvSpPr>
          <p:nvPr/>
        </p:nvSpPr>
        <p:spPr>
          <a:xfrm>
            <a:off x="8601075" y="38862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Assurance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8E3AFB-6A15-4063-B830-38C8B9BAD15A}"/>
              </a:ext>
            </a:extLst>
          </p:cNvPr>
          <p:cNvSpPr>
            <a:spLocks noGrp="1"/>
          </p:cNvSpPr>
          <p:nvPr/>
        </p:nvSpPr>
        <p:spPr>
          <a:xfrm>
            <a:off x="8601075" y="4400550"/>
            <a:ext cx="266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notifications | audit logs</a:t>
            </a:r>
          </a:p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password resets | email verifications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6706E7-3A43-4678-95BF-33CD7B900609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40005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Every tenant-owned operational record carries a business identifier; unique constraints and indexes protect identity, lookup and reporting paths.</a:t>
            </a:r>
          </a:p>
        </p:txBody>
      </p:sp>
    </p:spTree>
    <p:extLst>
      <p:ext uri="{BB962C8B-B14F-4D97-AF65-F5344CB8AC3E}">
        <p14:creationId xmlns:p14="http://schemas.microsoft.com/office/powerpoint/2010/main" val="1753897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C8F04C4-3E7B-42CF-A70C-4BBB80148C0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7DE776-AFF9-4BF0-9DD4-4788477B7203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Ten controlled stages make every repair traceable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150EAA-14F2-437E-B0B0-BDE1EDD9DA25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F852AA-41AA-4410-B186-F7A2C24E8953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666CC5-784B-4EAB-9F72-A19E742D8A2D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1962150" cy="1200150"/>
          </a:xfrm>
          <a:prstGeom prst="roundRect">
            <a:avLst>
              <a:gd name="adj" fmla="val 7937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6393CB-A5C0-44B8-884F-29A52A51360B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2257BB-35AA-4373-9726-8AB2F449C4CE}"/>
              </a:ext>
            </a:extLst>
          </p:cNvPr>
          <p:cNvSpPr>
            <a:spLocks noGrp="1"/>
          </p:cNvSpPr>
          <p:nvPr/>
        </p:nvSpPr>
        <p:spPr>
          <a:xfrm>
            <a:off x="552450" y="249555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RECEIVED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D43173-DAC4-47E7-93DD-7465F7C36F6C}"/>
              </a:ext>
            </a:extLst>
          </p:cNvPr>
          <p:cNvSpPr>
            <a:spLocks noGrp="1"/>
          </p:cNvSpPr>
          <p:nvPr/>
        </p:nvSpPr>
        <p:spPr>
          <a:xfrm>
            <a:off x="2686050" y="2000250"/>
            <a:ext cx="1962150" cy="1200150"/>
          </a:xfrm>
          <a:prstGeom prst="roundRect">
            <a:avLst>
              <a:gd name="adj" fmla="val 7937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3DAC0C-E251-48B9-9998-194E606B9F4B}"/>
              </a:ext>
            </a:extLst>
          </p:cNvPr>
          <p:cNvSpPr>
            <a:spLocks noGrp="1"/>
          </p:cNvSpPr>
          <p:nvPr/>
        </p:nvSpPr>
        <p:spPr>
          <a:xfrm>
            <a:off x="2838450" y="2133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AE3D4B-55D7-452A-9366-EDECBBB421D7}"/>
              </a:ext>
            </a:extLst>
          </p:cNvPr>
          <p:cNvSpPr>
            <a:spLocks noGrp="1"/>
          </p:cNvSpPr>
          <p:nvPr/>
        </p:nvSpPr>
        <p:spPr>
          <a:xfrm>
            <a:off x="2838450" y="249555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DIAGNOSING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3AC276-2299-42BA-A08D-8B43F5F3DC09}"/>
              </a:ext>
            </a:extLst>
          </p:cNvPr>
          <p:cNvSpPr>
            <a:spLocks noGrp="1"/>
          </p:cNvSpPr>
          <p:nvPr/>
        </p:nvSpPr>
        <p:spPr>
          <a:xfrm>
            <a:off x="4972050" y="2000250"/>
            <a:ext cx="1962150" cy="1200150"/>
          </a:xfrm>
          <a:prstGeom prst="roundRect">
            <a:avLst>
              <a:gd name="adj" fmla="val 7937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F15FFC-237D-45AE-9C8E-554C6283A8CD}"/>
              </a:ext>
            </a:extLst>
          </p:cNvPr>
          <p:cNvSpPr>
            <a:spLocks noGrp="1"/>
          </p:cNvSpPr>
          <p:nvPr/>
        </p:nvSpPr>
        <p:spPr>
          <a:xfrm>
            <a:off x="5124450" y="2133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FA473-745D-4F78-B8B1-859F19C634CB}"/>
              </a:ext>
            </a:extLst>
          </p:cNvPr>
          <p:cNvSpPr>
            <a:spLocks noGrp="1"/>
          </p:cNvSpPr>
          <p:nvPr/>
        </p:nvSpPr>
        <p:spPr>
          <a:xfrm>
            <a:off x="5124450" y="249555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AWAITING</a:t>
            </a:r>
          </a:p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4A1850-EC0D-43D8-AA62-BB7C56C465DB}"/>
              </a:ext>
            </a:extLst>
          </p:cNvPr>
          <p:cNvSpPr>
            <a:spLocks noGrp="1"/>
          </p:cNvSpPr>
          <p:nvPr/>
        </p:nvSpPr>
        <p:spPr>
          <a:xfrm>
            <a:off x="7258050" y="2000250"/>
            <a:ext cx="1962150" cy="1200150"/>
          </a:xfrm>
          <a:prstGeom prst="roundRect">
            <a:avLst>
              <a:gd name="adj" fmla="val 7937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C99C87-294D-4250-B4BD-C08AC08C52CF}"/>
              </a:ext>
            </a:extLst>
          </p:cNvPr>
          <p:cNvSpPr>
            <a:spLocks noGrp="1"/>
          </p:cNvSpPr>
          <p:nvPr/>
        </p:nvSpPr>
        <p:spPr>
          <a:xfrm>
            <a:off x="7410450" y="2133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07E2AD-898A-4FD9-8868-338C3B20A83E}"/>
              </a:ext>
            </a:extLst>
          </p:cNvPr>
          <p:cNvSpPr>
            <a:spLocks noGrp="1"/>
          </p:cNvSpPr>
          <p:nvPr/>
        </p:nvSpPr>
        <p:spPr>
          <a:xfrm>
            <a:off x="7410450" y="249555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WAITING FOR</a:t>
            </a:r>
          </a:p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PARTS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C53E3A-E9BF-466F-AFDA-CDEA803600BE}"/>
              </a:ext>
            </a:extLst>
          </p:cNvPr>
          <p:cNvSpPr>
            <a:spLocks noGrp="1"/>
          </p:cNvSpPr>
          <p:nvPr/>
        </p:nvSpPr>
        <p:spPr>
          <a:xfrm>
            <a:off x="9544050" y="2000250"/>
            <a:ext cx="1962150" cy="1200150"/>
          </a:xfrm>
          <a:prstGeom prst="roundRect">
            <a:avLst>
              <a:gd name="adj" fmla="val 7937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60325-56EF-4FC7-88BC-7F5DCCAA84E4}"/>
              </a:ext>
            </a:extLst>
          </p:cNvPr>
          <p:cNvSpPr>
            <a:spLocks noGrp="1"/>
          </p:cNvSpPr>
          <p:nvPr/>
        </p:nvSpPr>
        <p:spPr>
          <a:xfrm>
            <a:off x="9696450" y="2133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9ADE63-BA12-4E13-99F0-5648D0C97662}"/>
              </a:ext>
            </a:extLst>
          </p:cNvPr>
          <p:cNvSpPr>
            <a:spLocks noGrp="1"/>
          </p:cNvSpPr>
          <p:nvPr/>
        </p:nvSpPr>
        <p:spPr>
          <a:xfrm>
            <a:off x="9696450" y="249555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33A5DD-F2E1-4B84-A772-7D8D59184E74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1962150" cy="1200150"/>
          </a:xfrm>
          <a:prstGeom prst="roundRect">
            <a:avLst>
              <a:gd name="adj" fmla="val 7937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CB4126-482F-4B91-81DA-A560599CA892}"/>
              </a:ext>
            </a:extLst>
          </p:cNvPr>
          <p:cNvSpPr>
            <a:spLocks noGrp="1"/>
          </p:cNvSpPr>
          <p:nvPr/>
        </p:nvSpPr>
        <p:spPr>
          <a:xfrm>
            <a:off x="552450" y="3943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C2E22B-393C-4791-91DD-5FAB98711D2C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99D742C-2A41-4E90-AC17-0B9117E7A52C}"/>
              </a:ext>
            </a:extLst>
          </p:cNvPr>
          <p:cNvSpPr>
            <a:spLocks noGrp="1"/>
          </p:cNvSpPr>
          <p:nvPr/>
        </p:nvSpPr>
        <p:spPr>
          <a:xfrm>
            <a:off x="2686050" y="3810000"/>
            <a:ext cx="1962150" cy="1200150"/>
          </a:xfrm>
          <a:prstGeom prst="roundRect">
            <a:avLst>
              <a:gd name="adj" fmla="val 7937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068377-9BAF-4EA2-83B8-EC0B2B982973}"/>
              </a:ext>
            </a:extLst>
          </p:cNvPr>
          <p:cNvSpPr>
            <a:spLocks noGrp="1"/>
          </p:cNvSpPr>
          <p:nvPr/>
        </p:nvSpPr>
        <p:spPr>
          <a:xfrm>
            <a:off x="2838450" y="3943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5295CC-29C1-407A-9038-AE0D238C9DC1}"/>
              </a:ext>
            </a:extLst>
          </p:cNvPr>
          <p:cNvSpPr>
            <a:spLocks noGrp="1"/>
          </p:cNvSpPr>
          <p:nvPr/>
        </p:nvSpPr>
        <p:spPr>
          <a:xfrm>
            <a:off x="2838450" y="430530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82F20AC-CEAC-43D9-B8AE-0AC59D59149F}"/>
              </a:ext>
            </a:extLst>
          </p:cNvPr>
          <p:cNvSpPr>
            <a:spLocks noGrp="1"/>
          </p:cNvSpPr>
          <p:nvPr/>
        </p:nvSpPr>
        <p:spPr>
          <a:xfrm>
            <a:off x="4972050" y="3810000"/>
            <a:ext cx="1962150" cy="1200150"/>
          </a:xfrm>
          <a:prstGeom prst="roundRect">
            <a:avLst>
              <a:gd name="adj" fmla="val 7937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5131B5-F8A0-4F2D-9423-8E5203856146}"/>
              </a:ext>
            </a:extLst>
          </p:cNvPr>
          <p:cNvSpPr>
            <a:spLocks noGrp="1"/>
          </p:cNvSpPr>
          <p:nvPr/>
        </p:nvSpPr>
        <p:spPr>
          <a:xfrm>
            <a:off x="5124450" y="3943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75B69B-391B-4654-BB18-41B322CCBE4E}"/>
              </a:ext>
            </a:extLst>
          </p:cNvPr>
          <p:cNvSpPr>
            <a:spLocks noGrp="1"/>
          </p:cNvSpPr>
          <p:nvPr/>
        </p:nvSpPr>
        <p:spPr>
          <a:xfrm>
            <a:off x="5124450" y="430530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READY FOR</a:t>
            </a:r>
          </a:p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COLLECTION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8C5DE4C-07C9-40A5-B106-3CA66C7CA569}"/>
              </a:ext>
            </a:extLst>
          </p:cNvPr>
          <p:cNvSpPr>
            <a:spLocks noGrp="1"/>
          </p:cNvSpPr>
          <p:nvPr/>
        </p:nvSpPr>
        <p:spPr>
          <a:xfrm>
            <a:off x="7258050" y="3810000"/>
            <a:ext cx="1962150" cy="1200150"/>
          </a:xfrm>
          <a:prstGeom prst="roundRect">
            <a:avLst>
              <a:gd name="adj" fmla="val 7937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F4506A-BEBF-4DB1-9E74-5477CB764FA7}"/>
              </a:ext>
            </a:extLst>
          </p:cNvPr>
          <p:cNvSpPr>
            <a:spLocks noGrp="1"/>
          </p:cNvSpPr>
          <p:nvPr/>
        </p:nvSpPr>
        <p:spPr>
          <a:xfrm>
            <a:off x="7410450" y="3943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F790D7-35A2-4285-A730-7082038FADBC}"/>
              </a:ext>
            </a:extLst>
          </p:cNvPr>
          <p:cNvSpPr>
            <a:spLocks noGrp="1"/>
          </p:cNvSpPr>
          <p:nvPr/>
        </p:nvSpPr>
        <p:spPr>
          <a:xfrm>
            <a:off x="7410450" y="430530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D4CAAF3-AD00-4A6F-9627-C8F51EE1BABE}"/>
              </a:ext>
            </a:extLst>
          </p:cNvPr>
          <p:cNvSpPr>
            <a:spLocks noGrp="1"/>
          </p:cNvSpPr>
          <p:nvPr/>
        </p:nvSpPr>
        <p:spPr>
          <a:xfrm>
            <a:off x="9544050" y="3810000"/>
            <a:ext cx="1962150" cy="1200150"/>
          </a:xfrm>
          <a:prstGeom prst="roundRect">
            <a:avLst>
              <a:gd name="adj" fmla="val 7937"/>
            </a:avLst>
          </a:prstGeom>
          <a:solidFill>
            <a:srgbClr val="FEF2F2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5661A5-5A73-4F13-A1D4-DC8168D40C37}"/>
              </a:ext>
            </a:extLst>
          </p:cNvPr>
          <p:cNvSpPr>
            <a:spLocks noGrp="1"/>
          </p:cNvSpPr>
          <p:nvPr/>
        </p:nvSpPr>
        <p:spPr>
          <a:xfrm>
            <a:off x="9696450" y="3943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790899-E62E-4A3A-B972-7778A8CB781A}"/>
              </a:ext>
            </a:extLst>
          </p:cNvPr>
          <p:cNvSpPr>
            <a:spLocks noGrp="1"/>
          </p:cNvSpPr>
          <p:nvPr/>
        </p:nvSpPr>
        <p:spPr>
          <a:xfrm>
            <a:off x="9696450" y="430530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CANCELLED</a:t>
            </a:r>
          </a:p>
        </p:txBody>
      </p:sp>
      <p:cxnSp>
        <p:nvCxnSpPr>
          <p:cNvPr id="77" name="Straight Arrow Connector 76"/>
          <p:cNvCxnSpPr>
            <a:stCxn id="5" idx="3"/>
            <a:endCxn id="8" idx="1"/>
          </p:cNvCxnSpPr>
          <p:nvPr/>
        </p:nvCxnSpPr>
        <p:spPr>
          <a:xfrm>
            <a:off x="2362200" y="2600325"/>
            <a:ext cx="32385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78" name="Straight Arrow Connector 77"/>
          <p:cNvCxnSpPr>
            <a:stCxn id="8" idx="3"/>
            <a:endCxn id="11" idx="1"/>
          </p:cNvCxnSpPr>
          <p:nvPr/>
        </p:nvCxnSpPr>
        <p:spPr>
          <a:xfrm>
            <a:off x="4648200" y="2600325"/>
            <a:ext cx="32385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79" name="Straight Arrow Connector 78"/>
          <p:cNvCxnSpPr>
            <a:stCxn id="11" idx="3"/>
            <a:endCxn id="14" idx="1"/>
          </p:cNvCxnSpPr>
          <p:nvPr/>
        </p:nvCxnSpPr>
        <p:spPr>
          <a:xfrm>
            <a:off x="6934200" y="2600325"/>
            <a:ext cx="32385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80" name="Straight Arrow Connector 79"/>
          <p:cNvCxnSpPr>
            <a:stCxn id="14" idx="3"/>
            <a:endCxn id="17" idx="1"/>
          </p:cNvCxnSpPr>
          <p:nvPr/>
        </p:nvCxnSpPr>
        <p:spPr>
          <a:xfrm>
            <a:off x="9220200" y="2600325"/>
            <a:ext cx="32385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81" name="Straight Arrow Connector 80"/>
          <p:cNvCxnSpPr>
            <a:stCxn id="20" idx="3"/>
            <a:endCxn id="23" idx="1"/>
          </p:cNvCxnSpPr>
          <p:nvPr/>
        </p:nvCxnSpPr>
        <p:spPr>
          <a:xfrm>
            <a:off x="2362200" y="4410075"/>
            <a:ext cx="32385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82" name="Straight Arrow Connector 81"/>
          <p:cNvCxnSpPr>
            <a:stCxn id="23" idx="3"/>
            <a:endCxn id="26" idx="1"/>
          </p:cNvCxnSpPr>
          <p:nvPr/>
        </p:nvCxnSpPr>
        <p:spPr>
          <a:xfrm>
            <a:off x="4648200" y="4410075"/>
            <a:ext cx="32385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83" name="Straight Arrow Connector 82"/>
          <p:cNvCxnSpPr>
            <a:stCxn id="26" idx="3"/>
            <a:endCxn id="29" idx="1"/>
          </p:cNvCxnSpPr>
          <p:nvPr/>
        </p:nvCxnSpPr>
        <p:spPr>
          <a:xfrm>
            <a:off x="6934200" y="4410075"/>
            <a:ext cx="32385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06EC87C-D6AE-4B12-AE63-93B16D9EE051}"/>
              </a:ext>
            </a:extLst>
          </p:cNvPr>
          <p:cNvSpPr>
            <a:spLocks noGrp="1"/>
          </p:cNvSpPr>
          <p:nvPr/>
        </p:nvSpPr>
        <p:spPr>
          <a:xfrm>
            <a:off x="2247900" y="5486400"/>
            <a:ext cx="7696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 lnSpcReduction="10000"/>
          </a:bodyPr>
          <a:lstStyle/>
          <a:p>
            <a:pPr algn="ctr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Each valid transition creates status history, audit evidence and, when enabled, a customer notification.</a:t>
            </a:r>
          </a:p>
        </p:txBody>
      </p:sp>
    </p:spTree>
    <p:extLst>
      <p:ext uri="{BB962C8B-B14F-4D97-AF65-F5344CB8AC3E}">
        <p14:creationId xmlns:p14="http://schemas.microsoft.com/office/powerpoint/2010/main" val="194418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60A00AB-9B93-464D-9398-38B867E50E76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D98C3B-E490-4266-9F0D-BAF85FBE0CD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22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Authentication begins with secure recovery and verification paths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0245B2-A056-414F-93C5-E6F30BE42F93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693896-59EE-4494-9EDC-033EB7B4A916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8ADDDF-5030-4F1E-8F9C-3192C361139A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4095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interface supports email login, customer registration, email verification, password recovery and Google sign-in after configuration.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DED23D-EA5A-498E-AF1C-3DD58BFA925C}"/>
              </a:ext>
            </a:extLst>
          </p:cNvPr>
          <p:cNvSpPr>
            <a:spLocks noGrp="1"/>
          </p:cNvSpPr>
          <p:nvPr/>
        </p:nvSpPr>
        <p:spPr>
          <a:xfrm>
            <a:off x="400050" y="3228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3E5E82-5801-4048-A00C-4BF19A943B60}"/>
              </a:ext>
            </a:extLst>
          </p:cNvPr>
          <p:cNvSpPr>
            <a:spLocks noGrp="1"/>
          </p:cNvSpPr>
          <p:nvPr/>
        </p:nvSpPr>
        <p:spPr>
          <a:xfrm>
            <a:off x="666750" y="31623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Argon2id password hashing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2B5E34-3E91-4806-B118-385D600ECDBD}"/>
              </a:ext>
            </a:extLst>
          </p:cNvPr>
          <p:cNvSpPr>
            <a:spLocks noGrp="1"/>
          </p:cNvSpPr>
          <p:nvPr/>
        </p:nvSpPr>
        <p:spPr>
          <a:xfrm>
            <a:off x="400050" y="3686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25E1B0-0388-4AD8-BAB6-FADF1BD32B37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Account lockout after repeated failures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AD87A1-EC34-4485-BB6E-0D5772A7BEE1}"/>
              </a:ext>
            </a:extLst>
          </p:cNvPr>
          <p:cNvSpPr>
            <a:spLocks noGrp="1"/>
          </p:cNvSpPr>
          <p:nvPr/>
        </p:nvSpPr>
        <p:spPr>
          <a:xfrm>
            <a:off x="400050" y="41433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84E508-8936-4153-85F8-9FA5913B17BF}"/>
              </a:ext>
            </a:extLst>
          </p:cNvPr>
          <p:cNvSpPr>
            <a:spLocks noGrp="1"/>
          </p:cNvSpPr>
          <p:nvPr/>
        </p:nvSpPr>
        <p:spPr>
          <a:xfrm>
            <a:off x="666750" y="40767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Short-lived JWT access token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9D0601-EF6E-4EB6-9B00-F4C26E6BD72A}"/>
              </a:ext>
            </a:extLst>
          </p:cNvPr>
          <p:cNvSpPr>
            <a:spLocks noGrp="1"/>
          </p:cNvSpPr>
          <p:nvPr/>
        </p:nvSpPr>
        <p:spPr>
          <a:xfrm>
            <a:off x="400050" y="46005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5349AE-6055-425B-9C3F-F4EB96AE9A41}"/>
              </a:ext>
            </a:extLst>
          </p:cNvPr>
          <p:cNvSpPr>
            <a:spLocks noGrp="1"/>
          </p:cNvSpPr>
          <p:nvPr/>
        </p:nvSpPr>
        <p:spPr>
          <a:xfrm>
            <a:off x="666750" y="45339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Rotating HttpOnly refresh cookie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F895A3B-3FD1-4978-9085-7FFDE1C45BB3}"/>
              </a:ext>
            </a:extLst>
          </p:cNvPr>
          <p:cNvSpPr>
            <a:spLocks noGrp="1"/>
          </p:cNvSpPr>
          <p:nvPr/>
        </p:nvSpPr>
        <p:spPr>
          <a:xfrm>
            <a:off x="400050" y="50577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5276DE-33D3-4D3C-868B-3304B2E2B9AB}"/>
              </a:ext>
            </a:extLst>
          </p:cNvPr>
          <p:cNvSpPr>
            <a:spLocks noGrp="1"/>
          </p:cNvSpPr>
          <p:nvPr/>
        </p:nvSpPr>
        <p:spPr>
          <a:xfrm>
            <a:off x="666750" y="49911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No access token in localStorage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0" y="1696641"/>
            <a:ext cx="6838950" cy="4274344"/>
          </a:xfrm>
          <a:prstGeom prst="roundRect">
            <a:avLst>
              <a:gd name="adj" fmla="val 2673"/>
            </a:avLst>
          </a:prstGeom>
        </p:spPr>
      </p:pic>
    </p:spTree>
    <p:extLst>
      <p:ext uri="{BB962C8B-B14F-4D97-AF65-F5344CB8AC3E}">
        <p14:creationId xmlns:p14="http://schemas.microsoft.com/office/powerpoint/2010/main" val="1647362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97DADC3-6FE0-4E38-B337-4EE126BA5213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F4D02A-9877-4D6F-81D7-07BC610F85F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dashboard turns operational data into immediate 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08EEDF-BEC8-4BEF-9997-1FA31D23A761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888C5-2F83-4C3D-8945-FEE4F767ACE1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657350"/>
            <a:ext cx="7239000" cy="4524375"/>
          </a:xfrm>
          <a:prstGeom prst="roundRect">
            <a:avLst>
              <a:gd name="adj" fmla="val 2526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2AA730-966E-4F9B-BD1E-6837F54EA5E5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At a glance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288B78-3292-424E-8B86-A7B48B6A9BD7}"/>
              </a:ext>
            </a:extLst>
          </p:cNvPr>
          <p:cNvSpPr>
            <a:spLocks noGrp="1"/>
          </p:cNvSpPr>
          <p:nvPr/>
        </p:nvSpPr>
        <p:spPr>
          <a:xfrm>
            <a:off x="8096250" y="2543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7BC82F-542B-4104-8288-E9F512007437}"/>
              </a:ext>
            </a:extLst>
          </p:cNvPr>
          <p:cNvSpPr>
            <a:spLocks noGrp="1"/>
          </p:cNvSpPr>
          <p:nvPr/>
        </p:nvSpPr>
        <p:spPr>
          <a:xfrm>
            <a:off x="8362950" y="24765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Repairs received today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484E5C-06F2-403B-97E9-EEF57C899539}"/>
              </a:ext>
            </a:extLst>
          </p:cNvPr>
          <p:cNvSpPr>
            <a:spLocks noGrp="1"/>
          </p:cNvSpPr>
          <p:nvPr/>
        </p:nvSpPr>
        <p:spPr>
          <a:xfrm>
            <a:off x="8096250" y="3038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B2F1FD-962A-484B-930A-F454E5066676}"/>
              </a:ext>
            </a:extLst>
          </p:cNvPr>
          <p:cNvSpPr>
            <a:spLocks noGrp="1"/>
          </p:cNvSpPr>
          <p:nvPr/>
        </p:nvSpPr>
        <p:spPr>
          <a:xfrm>
            <a:off x="8362950" y="29718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Jobs in diagnosis or progress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7AD058-655C-4B1F-A9BF-C7F7B53098BF}"/>
              </a:ext>
            </a:extLst>
          </p:cNvPr>
          <p:cNvSpPr>
            <a:spLocks noGrp="1"/>
          </p:cNvSpPr>
          <p:nvPr/>
        </p:nvSpPr>
        <p:spPr>
          <a:xfrm>
            <a:off x="8096250" y="35337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78A130-1012-4D32-8CEC-1851318B21FD}"/>
              </a:ext>
            </a:extLst>
          </p:cNvPr>
          <p:cNvSpPr>
            <a:spLocks noGrp="1"/>
          </p:cNvSpPr>
          <p:nvPr/>
        </p:nvSpPr>
        <p:spPr>
          <a:xfrm>
            <a:off x="8362950" y="34671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Revenue today and this month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D28170-BFB1-4634-B7F5-161F4F639CA8}"/>
              </a:ext>
            </a:extLst>
          </p:cNvPr>
          <p:cNvSpPr>
            <a:spLocks noGrp="1"/>
          </p:cNvSpPr>
          <p:nvPr/>
        </p:nvSpPr>
        <p:spPr>
          <a:xfrm>
            <a:off x="8096250" y="40290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91340F-2632-429C-8929-7E42D79AF1AF}"/>
              </a:ext>
            </a:extLst>
          </p:cNvPr>
          <p:cNvSpPr>
            <a:spLocks noGrp="1"/>
          </p:cNvSpPr>
          <p:nvPr/>
        </p:nvSpPr>
        <p:spPr>
          <a:xfrm>
            <a:off x="8362950" y="39624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Customer and technician totals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6F85AA-BB8C-437E-B072-E89A1F2B0587}"/>
              </a:ext>
            </a:extLst>
          </p:cNvPr>
          <p:cNvSpPr>
            <a:spLocks noGrp="1"/>
          </p:cNvSpPr>
          <p:nvPr/>
        </p:nvSpPr>
        <p:spPr>
          <a:xfrm>
            <a:off x="8096250" y="45243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2CAEE7-97F4-498A-9CE7-6597A9365739}"/>
              </a:ext>
            </a:extLst>
          </p:cNvPr>
          <p:cNvSpPr>
            <a:spLocks noGrp="1"/>
          </p:cNvSpPr>
          <p:nvPr/>
        </p:nvSpPr>
        <p:spPr>
          <a:xfrm>
            <a:off x="8362950" y="44577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Outstanding invoices and low stock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1B8DFF-4F10-4883-8D46-1426BC731198}"/>
              </a:ext>
            </a:extLst>
          </p:cNvPr>
          <p:cNvSpPr>
            <a:spLocks noGrp="1"/>
          </p:cNvSpPr>
          <p:nvPr/>
        </p:nvSpPr>
        <p:spPr>
          <a:xfrm>
            <a:off x="8096250" y="50196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4D3153-7264-45D6-9D5C-A01AE8F6170E}"/>
              </a:ext>
            </a:extLst>
          </p:cNvPr>
          <p:cNvSpPr>
            <a:spLocks noGrp="1"/>
          </p:cNvSpPr>
          <p:nvPr/>
        </p:nvSpPr>
        <p:spPr>
          <a:xfrm>
            <a:off x="8362950" y="49530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Repair-status completion signals</a:t>
            </a:r>
          </a:p>
        </p:txBody>
      </p:sp>
    </p:spTree>
    <p:extLst>
      <p:ext uri="{BB962C8B-B14F-4D97-AF65-F5344CB8AC3E}">
        <p14:creationId xmlns:p14="http://schemas.microsoft.com/office/powerpoint/2010/main" val="95041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E68DF5E-58AE-4009-9962-5779970772F2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0CD871-73BB-417A-8CA1-1A24A5F6338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 intake creates the system's central operational record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2E80D-E099-4753-989B-ACBC4BEBB5EE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7C7798-5D3C-4EFA-BEC4-2BF9D20007E8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D26910-D12E-4567-971A-6507859CC663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4476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 repair ticket links customer, device, priority, assignment, estimated cost, due date, warranty context and separate internal/customer-visible notes.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06A20C-7BCC-4795-B109-7ECF8C6DF27F}"/>
              </a:ext>
            </a:extLst>
          </p:cNvPr>
          <p:cNvSpPr>
            <a:spLocks noGrp="1"/>
          </p:cNvSpPr>
          <p:nvPr/>
        </p:nvSpPr>
        <p:spPr>
          <a:xfrm>
            <a:off x="400050" y="31718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406B4C-D97F-4D83-906B-5F8B567CB7CC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421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Unique reference: RT-YYYY-NNNNNN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9BFD3F-18C9-4E5D-98EB-206A2BF103F8}"/>
              </a:ext>
            </a:extLst>
          </p:cNvPr>
          <p:cNvSpPr>
            <a:spLocks noGrp="1"/>
          </p:cNvSpPr>
          <p:nvPr/>
        </p:nvSpPr>
        <p:spPr>
          <a:xfrm>
            <a:off x="400050" y="36671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50F2CC-0579-4974-AF8C-2A912FA8D8CA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421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Secure random public tracking token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7B89CC-6AA7-4096-B643-F290444BE147}"/>
              </a:ext>
            </a:extLst>
          </p:cNvPr>
          <p:cNvSpPr>
            <a:spLocks noGrp="1"/>
          </p:cNvSpPr>
          <p:nvPr/>
        </p:nvSpPr>
        <p:spPr>
          <a:xfrm>
            <a:off x="400050" y="41624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C163E0-052A-4CE2-9F53-98AB6EDD8C27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21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Search and status filtering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A0CBC3-729A-4178-B2A9-D42A235AD334}"/>
              </a:ext>
            </a:extLst>
          </p:cNvPr>
          <p:cNvSpPr>
            <a:spLocks noGrp="1"/>
          </p:cNvSpPr>
          <p:nvPr/>
        </p:nvSpPr>
        <p:spPr>
          <a:xfrm>
            <a:off x="400050" y="46577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FBB275-6BD0-49CB-9FDF-9963C884C9C7}"/>
              </a:ext>
            </a:extLst>
          </p:cNvPr>
          <p:cNvSpPr>
            <a:spLocks noGrp="1"/>
          </p:cNvSpPr>
          <p:nvPr/>
        </p:nvSpPr>
        <p:spPr>
          <a:xfrm>
            <a:off x="666750" y="4591050"/>
            <a:ext cx="421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Assignment at intake or later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12748C2-1EBA-4A3B-894A-A656F03EF88E}"/>
              </a:ext>
            </a:extLst>
          </p:cNvPr>
          <p:cNvSpPr>
            <a:spLocks noGrp="1"/>
          </p:cNvSpPr>
          <p:nvPr/>
        </p:nvSpPr>
        <p:spPr>
          <a:xfrm>
            <a:off x="400050" y="51530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A38F2D-7021-4837-AEB1-997BC22F1F0A}"/>
              </a:ext>
            </a:extLst>
          </p:cNvPr>
          <p:cNvSpPr>
            <a:spLocks noGrp="1"/>
          </p:cNvSpPr>
          <p:nvPr/>
        </p:nvSpPr>
        <p:spPr>
          <a:xfrm>
            <a:off x="666750" y="5086350"/>
            <a:ext cx="421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Audit event on creation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21605" y="1752600"/>
            <a:ext cx="6568440" cy="4105275"/>
          </a:xfrm>
          <a:prstGeom prst="roundRect">
            <a:avLst>
              <a:gd name="adj" fmla="val 2784"/>
            </a:avLst>
          </a:prstGeom>
        </p:spPr>
      </p:pic>
    </p:spTree>
    <p:extLst>
      <p:ext uri="{BB962C8B-B14F-4D97-AF65-F5344CB8AC3E}">
        <p14:creationId xmlns:p14="http://schemas.microsoft.com/office/powerpoint/2010/main" val="603566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51ECE96-50A9-4B24-9B41-828B243F8598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99C4D-44B7-469C-889A-30D59BE53F8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9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One repair detail view coordinates diagnosis, parts, notes and billing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480885-76BE-4FF5-845F-0D7560380EBC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3668CB-313C-4D6F-8EBE-2F097258B70F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658541"/>
            <a:ext cx="7524750" cy="4702969"/>
          </a:xfrm>
          <a:prstGeom prst="roundRect">
            <a:avLst>
              <a:gd name="adj" fmla="val 2429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738397-B8F9-4ACD-8BCF-6F980DE5F062}"/>
              </a:ext>
            </a:extLst>
          </p:cNvPr>
          <p:cNvSpPr>
            <a:spLocks noGrp="1"/>
          </p:cNvSpPr>
          <p:nvPr/>
        </p:nvSpPr>
        <p:spPr>
          <a:xfrm>
            <a:off x="8305800" y="20288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CAB1FD-1FAE-4C29-8395-FD38C4F649A1}"/>
              </a:ext>
            </a:extLst>
          </p:cNvPr>
          <p:cNvSpPr>
            <a:spLocks noGrp="1"/>
          </p:cNvSpPr>
          <p:nvPr/>
        </p:nvSpPr>
        <p:spPr>
          <a:xfrm>
            <a:off x="8572500" y="1962150"/>
            <a:ext cx="29337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Technician assignment and acceptance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73B59C-B0B6-435D-A2A5-164AB10928A4}"/>
              </a:ext>
            </a:extLst>
          </p:cNvPr>
          <p:cNvSpPr>
            <a:spLocks noGrp="1"/>
          </p:cNvSpPr>
          <p:nvPr/>
        </p:nvSpPr>
        <p:spPr>
          <a:xfrm>
            <a:off x="8305800" y="2571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DC7EF6-E1C5-4A3F-89B3-14F3794FDDAC}"/>
              </a:ext>
            </a:extLst>
          </p:cNvPr>
          <p:cNvSpPr>
            <a:spLocks noGrp="1"/>
          </p:cNvSpPr>
          <p:nvPr/>
        </p:nvSpPr>
        <p:spPr>
          <a:xfrm>
            <a:off x="8572500" y="2505075"/>
            <a:ext cx="29337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Diagnosis and cost recommendation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4D545A-F171-4523-AA85-4FBB9C78CC90}"/>
              </a:ext>
            </a:extLst>
          </p:cNvPr>
          <p:cNvSpPr>
            <a:spLocks noGrp="1"/>
          </p:cNvSpPr>
          <p:nvPr/>
        </p:nvSpPr>
        <p:spPr>
          <a:xfrm>
            <a:off x="8305800" y="31146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E24DFE-E3C6-40F2-92B0-4FECEBDC9E5E}"/>
              </a:ext>
            </a:extLst>
          </p:cNvPr>
          <p:cNvSpPr>
            <a:spLocks noGrp="1"/>
          </p:cNvSpPr>
          <p:nvPr/>
        </p:nvSpPr>
        <p:spPr>
          <a:xfrm>
            <a:off x="8572500" y="3048000"/>
            <a:ext cx="29337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Internal versus customer-visible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637B91-F689-4FEA-8AAF-BBD43BCA8915}"/>
              </a:ext>
            </a:extLst>
          </p:cNvPr>
          <p:cNvSpPr>
            <a:spLocks noGrp="1"/>
          </p:cNvSpPr>
          <p:nvPr/>
        </p:nvSpPr>
        <p:spPr>
          <a:xfrm>
            <a:off x="8305800" y="3657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01AC07-8213-44C2-85D7-7CF18B624B65}"/>
              </a:ext>
            </a:extLst>
          </p:cNvPr>
          <p:cNvSpPr>
            <a:spLocks noGrp="1"/>
          </p:cNvSpPr>
          <p:nvPr/>
        </p:nvSpPr>
        <p:spPr>
          <a:xfrm>
            <a:off x="8572500" y="3590925"/>
            <a:ext cx="29337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Atomic parts consumption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36B39FC-1F02-4D3E-B81D-63B4486B3914}"/>
              </a:ext>
            </a:extLst>
          </p:cNvPr>
          <p:cNvSpPr>
            <a:spLocks noGrp="1"/>
          </p:cNvSpPr>
          <p:nvPr/>
        </p:nvSpPr>
        <p:spPr>
          <a:xfrm>
            <a:off x="8305800" y="42005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B7E604-409B-4CD0-88BF-02B8634166CE}"/>
              </a:ext>
            </a:extLst>
          </p:cNvPr>
          <p:cNvSpPr>
            <a:spLocks noGrp="1"/>
          </p:cNvSpPr>
          <p:nvPr/>
        </p:nvSpPr>
        <p:spPr>
          <a:xfrm>
            <a:off x="8572500" y="4133850"/>
            <a:ext cx="29337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Validated status advancement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8CD7E5-98F9-432A-A6E9-C233D9475428}"/>
              </a:ext>
            </a:extLst>
          </p:cNvPr>
          <p:cNvSpPr>
            <a:spLocks noGrp="1"/>
          </p:cNvSpPr>
          <p:nvPr/>
        </p:nvSpPr>
        <p:spPr>
          <a:xfrm>
            <a:off x="8305800" y="4743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35EFD6-8345-4FCF-98B7-26A1FE5A4E24}"/>
              </a:ext>
            </a:extLst>
          </p:cNvPr>
          <p:cNvSpPr>
            <a:spLocks noGrp="1"/>
          </p:cNvSpPr>
          <p:nvPr/>
        </p:nvSpPr>
        <p:spPr>
          <a:xfrm>
            <a:off x="8572500" y="4676775"/>
            <a:ext cx="29337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Linked invoices and payment state</a:t>
            </a:r>
          </a:p>
        </p:txBody>
      </p:sp>
    </p:spTree>
    <p:extLst>
      <p:ext uri="{BB962C8B-B14F-4D97-AF65-F5344CB8AC3E}">
        <p14:creationId xmlns:p14="http://schemas.microsoft.com/office/powerpoint/2010/main" val="327500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30140D9-49DC-4ACF-BE5B-0C2E1BBE032E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0662DA-0B6E-472E-B2CC-3EA4C179E5E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Customer and device records preserve service history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4D5686-0CFD-4D83-8BC9-98FE4875AFFB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6C34-987C-4029-9C08-F61A03D80999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D0B226-1F01-4E7A-ACFD-70503B4F1056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CUSTOMER PROFILE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66656D-BDC1-4054-9F10-CB04DE3D810A}"/>
              </a:ext>
            </a:extLst>
          </p:cNvPr>
          <p:cNvSpPr>
            <a:spLocks noGrp="1"/>
          </p:cNvSpPr>
          <p:nvPr/>
        </p:nvSpPr>
        <p:spPr>
          <a:xfrm>
            <a:off x="400050" y="217170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Identity, contact details and relationship context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F033EE-21EB-431D-BD94-75D6A9B02B6E}"/>
              </a:ext>
            </a:extLst>
          </p:cNvPr>
          <p:cNvSpPr>
            <a:spLocks noGrp="1"/>
          </p:cNvSpPr>
          <p:nvPr/>
        </p:nvSpPr>
        <p:spPr>
          <a:xfrm>
            <a:off x="400050" y="3305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6B12AE-689B-4A2C-BBA1-392A330D6BF8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Duplicate prevention by business and contact fields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C621DC-E88C-4547-80BD-BC21EAAC5CF7}"/>
              </a:ext>
            </a:extLst>
          </p:cNvPr>
          <p:cNvSpPr>
            <a:spLocks noGrp="1"/>
          </p:cNvSpPr>
          <p:nvPr/>
        </p:nvSpPr>
        <p:spPr>
          <a:xfrm>
            <a:off x="400050" y="38766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0FE9D3-1FD5-4B16-9A55-DF1A544BA13A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Alternative phone, address and service notes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DB6BA5-E117-4E0F-ACCE-9AA2ABBD4117}"/>
              </a:ext>
            </a:extLst>
          </p:cNvPr>
          <p:cNvSpPr>
            <a:spLocks noGrp="1"/>
          </p:cNvSpPr>
          <p:nvPr/>
        </p:nvSpPr>
        <p:spPr>
          <a:xfrm>
            <a:off x="400050" y="4448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27979E-1F0D-44E1-B7D1-76343462F912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Repair, invoice and payment history in context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90843B-8BD3-4F94-818D-60A972EF2818}"/>
              </a:ext>
            </a:extLst>
          </p:cNvPr>
          <p:cNvSpPr>
            <a:spLocks noGrp="1"/>
          </p:cNvSpPr>
          <p:nvPr/>
        </p:nvSpPr>
        <p:spPr>
          <a:xfrm>
            <a:off x="6000750" y="1752600"/>
            <a:ext cx="5791200" cy="37147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85CCA3-DDF2-4251-8B14-B02AB1F78314}"/>
              </a:ext>
            </a:extLst>
          </p:cNvPr>
          <p:cNvSpPr>
            <a:spLocks noGrp="1"/>
          </p:cNvSpPr>
          <p:nvPr/>
        </p:nvSpPr>
        <p:spPr>
          <a:xfrm>
            <a:off x="6362700" y="20764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DEVICE RECORD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6AD5E-1CE2-47AB-921A-9BF95202DCA4}"/>
              </a:ext>
            </a:extLst>
          </p:cNvPr>
          <p:cNvSpPr>
            <a:spLocks noGrp="1"/>
          </p:cNvSpPr>
          <p:nvPr/>
        </p:nvSpPr>
        <p:spPr>
          <a:xfrm>
            <a:off x="6362700" y="2514600"/>
            <a:ext cx="4857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Serialized equipment linked to its owner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56596C-6735-4EE6-8D78-38B156ADD6A7}"/>
              </a:ext>
            </a:extLst>
          </p:cNvPr>
          <p:cNvSpPr>
            <a:spLocks noGrp="1"/>
          </p:cNvSpPr>
          <p:nvPr/>
        </p:nvSpPr>
        <p:spPr>
          <a:xfrm>
            <a:off x="6362700" y="35528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61CE19-AF18-423D-8005-FC190F91329C}"/>
              </a:ext>
            </a:extLst>
          </p:cNvPr>
          <p:cNvSpPr>
            <a:spLocks noGrp="1"/>
          </p:cNvSpPr>
          <p:nvPr/>
        </p:nvSpPr>
        <p:spPr>
          <a:xfrm>
            <a:off x="6629400" y="3486150"/>
            <a:ext cx="459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Type | brand | model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62F83F-2236-44AB-B0D4-87D60482A75A}"/>
              </a:ext>
            </a:extLst>
          </p:cNvPr>
          <p:cNvSpPr>
            <a:spLocks noGrp="1"/>
          </p:cNvSpPr>
          <p:nvPr/>
        </p:nvSpPr>
        <p:spPr>
          <a:xfrm>
            <a:off x="6362700" y="3981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28EB9B-F53C-44E1-A26E-A5BC6AB47B0E}"/>
              </a:ext>
            </a:extLst>
          </p:cNvPr>
          <p:cNvSpPr>
            <a:spLocks noGrp="1"/>
          </p:cNvSpPr>
          <p:nvPr/>
        </p:nvSpPr>
        <p:spPr>
          <a:xfrm>
            <a:off x="6629400" y="3914775"/>
            <a:ext cx="459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Serial number | IMEI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02C8199-0D82-4DA6-BB53-127CDF428CD2}"/>
              </a:ext>
            </a:extLst>
          </p:cNvPr>
          <p:cNvSpPr>
            <a:spLocks noGrp="1"/>
          </p:cNvSpPr>
          <p:nvPr/>
        </p:nvSpPr>
        <p:spPr>
          <a:xfrm>
            <a:off x="6362700" y="44100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16C5D0-58F1-4884-8938-B99AF1F6F60D}"/>
              </a:ext>
            </a:extLst>
          </p:cNvPr>
          <p:cNvSpPr>
            <a:spLocks noGrp="1"/>
          </p:cNvSpPr>
          <p:nvPr/>
        </p:nvSpPr>
        <p:spPr>
          <a:xfrm>
            <a:off x="6629400" y="4343400"/>
            <a:ext cx="459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Colour | storage | RAM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DB94774-4616-47FE-A28C-5495AC6F6E77}"/>
              </a:ext>
            </a:extLst>
          </p:cNvPr>
          <p:cNvSpPr>
            <a:spLocks noGrp="1"/>
          </p:cNvSpPr>
          <p:nvPr/>
        </p:nvSpPr>
        <p:spPr>
          <a:xfrm>
            <a:off x="6362700" y="4838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177C4C-C2F9-43A2-820C-5A5979C30472}"/>
              </a:ext>
            </a:extLst>
          </p:cNvPr>
          <p:cNvSpPr>
            <a:spLocks noGrp="1"/>
          </p:cNvSpPr>
          <p:nvPr/>
        </p:nvSpPr>
        <p:spPr>
          <a:xfrm>
            <a:off x="6629400" y="4772025"/>
            <a:ext cx="459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Accessories | physical condition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98DE19D-0A11-4C8A-A136-C5A83140D781}"/>
              </a:ext>
            </a:extLst>
          </p:cNvPr>
          <p:cNvSpPr>
            <a:spLocks noGrp="1"/>
          </p:cNvSpPr>
          <p:nvPr/>
        </p:nvSpPr>
        <p:spPr>
          <a:xfrm>
            <a:off x="6362700" y="5267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42E2EA-5D06-4540-84E0-A6B36C7689C5}"/>
              </a:ext>
            </a:extLst>
          </p:cNvPr>
          <p:cNvSpPr>
            <a:spLocks noGrp="1"/>
          </p:cNvSpPr>
          <p:nvPr/>
        </p:nvSpPr>
        <p:spPr>
          <a:xfrm>
            <a:off x="6629400" y="5200650"/>
            <a:ext cx="459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Reported fault | warranty | images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46C4D9-D92C-41BE-809D-506202CFE517}"/>
              </a:ext>
            </a:extLst>
          </p:cNvPr>
          <p:cNvSpPr>
            <a:spLocks noGrp="1"/>
          </p:cNvSpPr>
          <p:nvPr/>
        </p:nvSpPr>
        <p:spPr>
          <a:xfrm>
            <a:off x="1714500" y="577215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833"/>
          </a:bodyPr>
          <a:lstStyle/>
          <a:p>
            <a:pPr algn="ctr">
              <a:defRPr sz="1500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Device passcodes are deliberately excluded from the implemented schema to minimize sensitive data exposure.</a:t>
            </a:r>
          </a:p>
        </p:txBody>
      </p:sp>
    </p:spTree>
    <p:extLst>
      <p:ext uri="{BB962C8B-B14F-4D97-AF65-F5344CB8AC3E}">
        <p14:creationId xmlns:p14="http://schemas.microsoft.com/office/powerpoint/2010/main" val="1338338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397C993-7547-48DD-B6C3-E71750857AA4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F85127-12EF-42C2-BE73-EB95D2D77C8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Inventory movements stay synchronized with repair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DBAE29-1A7E-40A7-BBC3-C345D1EEAB8B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49F989-71A2-4E00-9385-289D905D53AF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752600"/>
            <a:ext cx="6858000" cy="4286250"/>
          </a:xfrm>
          <a:prstGeom prst="roundRect">
            <a:avLst>
              <a:gd name="adj" fmla="val 2667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F14B08-6BE1-475D-9C28-5954019B1BD4}"/>
              </a:ext>
            </a:extLst>
          </p:cNvPr>
          <p:cNvSpPr>
            <a:spLocks noGrp="1"/>
          </p:cNvSpPr>
          <p:nvPr/>
        </p:nvSpPr>
        <p:spPr>
          <a:xfrm>
            <a:off x="7715250" y="18669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CONTROL LOGIC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403207-73E4-4930-ABC3-7CCAA160FA3C}"/>
              </a:ext>
            </a:extLst>
          </p:cNvPr>
          <p:cNvSpPr>
            <a:spLocks noGrp="1"/>
          </p:cNvSpPr>
          <p:nvPr/>
        </p:nvSpPr>
        <p:spPr>
          <a:xfrm>
            <a:off x="7715250" y="24479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241BF-3777-4CFF-80C4-775980988FB4}"/>
              </a:ext>
            </a:extLst>
          </p:cNvPr>
          <p:cNvSpPr>
            <a:spLocks noGrp="1"/>
          </p:cNvSpPr>
          <p:nvPr/>
        </p:nvSpPr>
        <p:spPr>
          <a:xfrm>
            <a:off x="7981950" y="2381250"/>
            <a:ext cx="3352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SKU, barcode, category and supplier context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317358-7239-4255-BB56-9A4C029E115E}"/>
              </a:ext>
            </a:extLst>
          </p:cNvPr>
          <p:cNvSpPr>
            <a:spLocks noGrp="1"/>
          </p:cNvSpPr>
          <p:nvPr/>
        </p:nvSpPr>
        <p:spPr>
          <a:xfrm>
            <a:off x="7715250" y="2981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A745EE-15F3-4555-AA87-7282608AD09E}"/>
              </a:ext>
            </a:extLst>
          </p:cNvPr>
          <p:cNvSpPr>
            <a:spLocks noGrp="1"/>
          </p:cNvSpPr>
          <p:nvPr/>
        </p:nvSpPr>
        <p:spPr>
          <a:xfrm>
            <a:off x="7981950" y="2914650"/>
            <a:ext cx="3352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Purchase cost, selling price and location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D4EDAA-5245-43FF-8525-CC1B3C35D7C0}"/>
              </a:ext>
            </a:extLst>
          </p:cNvPr>
          <p:cNvSpPr>
            <a:spLocks noGrp="1"/>
          </p:cNvSpPr>
          <p:nvPr/>
        </p:nvSpPr>
        <p:spPr>
          <a:xfrm>
            <a:off x="7715250" y="35147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6ED294-8A11-43EB-A319-30DF4C9092E3}"/>
              </a:ext>
            </a:extLst>
          </p:cNvPr>
          <p:cNvSpPr>
            <a:spLocks noGrp="1"/>
          </p:cNvSpPr>
          <p:nvPr/>
        </p:nvSpPr>
        <p:spPr>
          <a:xfrm>
            <a:off x="7981950" y="3448050"/>
            <a:ext cx="3352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Audited stock-in and stock-out history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585B0F-F874-49E1-A418-C60446B77CF2}"/>
              </a:ext>
            </a:extLst>
          </p:cNvPr>
          <p:cNvSpPr>
            <a:spLocks noGrp="1"/>
          </p:cNvSpPr>
          <p:nvPr/>
        </p:nvSpPr>
        <p:spPr>
          <a:xfrm>
            <a:off x="7715250" y="40481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1D084-6221-40FA-91C2-3EB595490C92}"/>
              </a:ext>
            </a:extLst>
          </p:cNvPr>
          <p:cNvSpPr>
            <a:spLocks noGrp="1"/>
          </p:cNvSpPr>
          <p:nvPr/>
        </p:nvSpPr>
        <p:spPr>
          <a:xfrm>
            <a:off x="7981950" y="3981450"/>
            <a:ext cx="3352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Low-stock threshold alerts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CC9AAA-1F2F-4BAF-9CA2-3E692569BE27}"/>
              </a:ext>
            </a:extLst>
          </p:cNvPr>
          <p:cNvSpPr>
            <a:spLocks noGrp="1"/>
          </p:cNvSpPr>
          <p:nvPr/>
        </p:nvSpPr>
        <p:spPr>
          <a:xfrm>
            <a:off x="7715250" y="45815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D94360-7750-4E68-89B6-9295B75E1957}"/>
              </a:ext>
            </a:extLst>
          </p:cNvPr>
          <p:cNvSpPr>
            <a:spLocks noGrp="1"/>
          </p:cNvSpPr>
          <p:nvPr/>
        </p:nvSpPr>
        <p:spPr>
          <a:xfrm>
            <a:off x="7981950" y="4514850"/>
            <a:ext cx="3352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Negative stock blocked by default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85021AF-7C67-4539-89C4-B3BB8657BCFD}"/>
              </a:ext>
            </a:extLst>
          </p:cNvPr>
          <p:cNvSpPr>
            <a:spLocks noGrp="1"/>
          </p:cNvSpPr>
          <p:nvPr/>
        </p:nvSpPr>
        <p:spPr>
          <a:xfrm>
            <a:off x="7715250" y="51149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0641B6-E761-48BB-908D-5F685BAD3655}"/>
              </a:ext>
            </a:extLst>
          </p:cNvPr>
          <p:cNvSpPr>
            <a:spLocks noGrp="1"/>
          </p:cNvSpPr>
          <p:nvPr/>
        </p:nvSpPr>
        <p:spPr>
          <a:xfrm>
            <a:off x="7981950" y="5048250"/>
            <a:ext cx="3352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 part use reduces stock atomically</a:t>
            </a:r>
          </a:p>
        </p:txBody>
      </p:sp>
    </p:spTree>
    <p:extLst>
      <p:ext uri="{BB962C8B-B14F-4D97-AF65-F5344CB8AC3E}">
        <p14:creationId xmlns:p14="http://schemas.microsoft.com/office/powerpoint/2010/main" val="597105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ED349A-FCD4-4FCF-9936-3080048CF3B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3B7363-6160-46FA-AA68-21C1E9B63DD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165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Billing connects repair evidence to payment and receipt records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1F9625-61F2-4DC8-A6D3-9126C19CB0B0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01489F-A5F2-468B-8D99-EB3564CE21C6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1955" y="1695450"/>
            <a:ext cx="7330440" cy="4581525"/>
          </a:xfrm>
          <a:prstGeom prst="roundRect">
            <a:avLst>
              <a:gd name="adj" fmla="val 2495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BB6DBD-1BC3-4E82-BD88-E6610393833B}"/>
              </a:ext>
            </a:extLst>
          </p:cNvPr>
          <p:cNvSpPr>
            <a:spLocks noGrp="1"/>
          </p:cNvSpPr>
          <p:nvPr/>
        </p:nvSpPr>
        <p:spPr>
          <a:xfrm>
            <a:off x="8096250" y="19145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54FF1C-D8C7-4EA7-9628-A3D597BFEE91}"/>
              </a:ext>
            </a:extLst>
          </p:cNvPr>
          <p:cNvSpPr>
            <a:spLocks noGrp="1"/>
          </p:cNvSpPr>
          <p:nvPr/>
        </p:nvSpPr>
        <p:spPr>
          <a:xfrm>
            <a:off x="8362950" y="1847850"/>
            <a:ext cx="3067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Draft, issued, partially paid, paid and cancelled states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0082D8-1123-4B4B-8F88-763EF74B46FC}"/>
              </a:ext>
            </a:extLst>
          </p:cNvPr>
          <p:cNvSpPr>
            <a:spLocks noGrp="1"/>
          </p:cNvSpPr>
          <p:nvPr/>
        </p:nvSpPr>
        <p:spPr>
          <a:xfrm>
            <a:off x="8096250" y="2466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A5D01F-8C83-4B91-92C6-E580CC256850}"/>
              </a:ext>
            </a:extLst>
          </p:cNvPr>
          <p:cNvSpPr>
            <a:spLocks noGrp="1"/>
          </p:cNvSpPr>
          <p:nvPr/>
        </p:nvSpPr>
        <p:spPr>
          <a:xfrm>
            <a:off x="8362950" y="2400300"/>
            <a:ext cx="3067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Line-level quantity, tax and discount calculations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1E476C-7918-4F6C-94AB-F0A1373A4B7B}"/>
              </a:ext>
            </a:extLst>
          </p:cNvPr>
          <p:cNvSpPr>
            <a:spLocks noGrp="1"/>
          </p:cNvSpPr>
          <p:nvPr/>
        </p:nvSpPr>
        <p:spPr>
          <a:xfrm>
            <a:off x="8096250" y="30194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7EC43A-D981-40E9-8072-52BA03640655}"/>
              </a:ext>
            </a:extLst>
          </p:cNvPr>
          <p:cNvSpPr>
            <a:spLocks noGrp="1"/>
          </p:cNvSpPr>
          <p:nvPr/>
        </p:nvSpPr>
        <p:spPr>
          <a:xfrm>
            <a:off x="8362950" y="2952750"/>
            <a:ext cx="3067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Full, partial and multiple payments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D89C61-A6D4-45AF-AFEF-84834E776A46}"/>
              </a:ext>
            </a:extLst>
          </p:cNvPr>
          <p:cNvSpPr>
            <a:spLocks noGrp="1"/>
          </p:cNvSpPr>
          <p:nvPr/>
        </p:nvSpPr>
        <p:spPr>
          <a:xfrm>
            <a:off x="8096250" y="35718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CDC8DF-F20F-4B49-AB3A-EB4C8726A0B2}"/>
              </a:ext>
            </a:extLst>
          </p:cNvPr>
          <p:cNvSpPr>
            <a:spLocks noGrp="1"/>
          </p:cNvSpPr>
          <p:nvPr/>
        </p:nvSpPr>
        <p:spPr>
          <a:xfrm>
            <a:off x="8362950" y="3505200"/>
            <a:ext cx="3067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Cash, card, bank, M-Pesa and custom methods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4343CF-5683-49C0-A37D-9CBB82561E81}"/>
              </a:ext>
            </a:extLst>
          </p:cNvPr>
          <p:cNvSpPr>
            <a:spLocks noGrp="1"/>
          </p:cNvSpPr>
          <p:nvPr/>
        </p:nvSpPr>
        <p:spPr>
          <a:xfrm>
            <a:off x="8096250" y="4124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AE870D-04D1-4B80-A463-4CB71187FE4E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3067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PDF invoice and 58 mm / 80 mm / A4 receipts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015BDE-5F9E-4F38-9EEC-7874AAC8CEA9}"/>
              </a:ext>
            </a:extLst>
          </p:cNvPr>
          <p:cNvSpPr>
            <a:spLocks noGrp="1"/>
          </p:cNvSpPr>
          <p:nvPr/>
        </p:nvSpPr>
        <p:spPr>
          <a:xfrm>
            <a:off x="8096250" y="46767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7FC37D-555F-457A-91F7-71D9A7713C4D}"/>
              </a:ext>
            </a:extLst>
          </p:cNvPr>
          <p:cNvSpPr>
            <a:spLocks noGrp="1"/>
          </p:cNvSpPr>
          <p:nvPr/>
        </p:nvSpPr>
        <p:spPr>
          <a:xfrm>
            <a:off x="8362950" y="4610100"/>
            <a:ext cx="3067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Current repair status refreshed on receipt generation</a:t>
            </a:r>
          </a:p>
        </p:txBody>
      </p:sp>
    </p:spTree>
    <p:extLst>
      <p:ext uri="{BB962C8B-B14F-4D97-AF65-F5344CB8AC3E}">
        <p14:creationId xmlns:p14="http://schemas.microsoft.com/office/powerpoint/2010/main" val="2138018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371603D-0CB1-4514-84B5-93154920567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ACAA77-A95F-4082-A196-35D524F2D81E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506" lnSpcReduction="20000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Customers can track progress without exposing internal workshop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61306A-9B30-49E4-B9D1-9E5A23D53422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648341-BAE3-4D06-AE1C-F469E4524631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95F59F-1B4D-46E5-8557-F30D254DDD87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4476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secure random tracking token powers the public page and QR link. Database identifiers, staff IDs, internal notes and security records are not exposed.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E13077-E251-44E2-B0A4-84B49941505C}"/>
              </a:ext>
            </a:extLst>
          </p:cNvPr>
          <p:cNvSpPr>
            <a:spLocks noGrp="1"/>
          </p:cNvSpPr>
          <p:nvPr/>
        </p:nvSpPr>
        <p:spPr>
          <a:xfrm>
            <a:off x="400050" y="3419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7D8A28-7CE8-4803-8C19-D66D0D0D037E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421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 reference and device identity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0A44F6-C697-44F8-8590-A603265CB654}"/>
              </a:ext>
            </a:extLst>
          </p:cNvPr>
          <p:cNvSpPr>
            <a:spLocks noGrp="1"/>
          </p:cNvSpPr>
          <p:nvPr/>
        </p:nvSpPr>
        <p:spPr>
          <a:xfrm>
            <a:off x="400050" y="38576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291A5D-6385-446C-8469-83A78B0DB24F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421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Current status and customer message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331C84-3FEA-429F-9341-9CCE5B4E74E6}"/>
              </a:ext>
            </a:extLst>
          </p:cNvPr>
          <p:cNvSpPr>
            <a:spLocks noGrp="1"/>
          </p:cNvSpPr>
          <p:nvPr/>
        </p:nvSpPr>
        <p:spPr>
          <a:xfrm>
            <a:off x="400050" y="42957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1B0619-C5AA-410E-82E1-D2202C3B00D6}"/>
              </a:ext>
            </a:extLst>
          </p:cNvPr>
          <p:cNvSpPr>
            <a:spLocks noGrp="1"/>
          </p:cNvSpPr>
          <p:nvPr/>
        </p:nvSpPr>
        <p:spPr>
          <a:xfrm>
            <a:off x="666750" y="4229100"/>
            <a:ext cx="421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Estimated completion date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6D692B-4BD7-4CF8-8BE7-D1C7D1A34D0A}"/>
              </a:ext>
            </a:extLst>
          </p:cNvPr>
          <p:cNvSpPr>
            <a:spLocks noGrp="1"/>
          </p:cNvSpPr>
          <p:nvPr/>
        </p:nvSpPr>
        <p:spPr>
          <a:xfrm>
            <a:off x="400050" y="47339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AF8017-2D00-40DF-846D-85E6565C7657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421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Status timeline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E78B0C-42EF-47DC-91AC-D3409A612B0E}"/>
              </a:ext>
            </a:extLst>
          </p:cNvPr>
          <p:cNvSpPr>
            <a:spLocks noGrp="1"/>
          </p:cNvSpPr>
          <p:nvPr/>
        </p:nvSpPr>
        <p:spPr>
          <a:xfrm>
            <a:off x="400050" y="51720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574D7E-421E-4BFB-9E1E-4C7148955DA8}"/>
              </a:ext>
            </a:extLst>
          </p:cNvPr>
          <p:cNvSpPr>
            <a:spLocks noGrp="1"/>
          </p:cNvSpPr>
          <p:nvPr/>
        </p:nvSpPr>
        <p:spPr>
          <a:xfrm>
            <a:off x="666750" y="5105400"/>
            <a:ext cx="421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Invoice and payment state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2E5641-55A7-4270-A83A-17FCFE75D6DE}"/>
              </a:ext>
            </a:extLst>
          </p:cNvPr>
          <p:cNvSpPr>
            <a:spLocks noGrp="1"/>
          </p:cNvSpPr>
          <p:nvPr/>
        </p:nvSpPr>
        <p:spPr>
          <a:xfrm>
            <a:off x="400050" y="5610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59D8CF-0F99-479C-A62C-5672E94C66AA}"/>
              </a:ext>
            </a:extLst>
          </p:cNvPr>
          <p:cNvSpPr>
            <a:spLocks noGrp="1"/>
          </p:cNvSpPr>
          <p:nvPr/>
        </p:nvSpPr>
        <p:spPr>
          <a:xfrm>
            <a:off x="666750" y="5543550"/>
            <a:ext cx="421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Collection readiness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34050" y="2365772"/>
            <a:ext cx="5048250" cy="3155156"/>
          </a:xfrm>
          <a:prstGeom prst="roundRect">
            <a:avLst>
              <a:gd name="adj" fmla="val 2500"/>
            </a:avLst>
          </a:prstGeom>
        </p:spPr>
      </p:pic>
    </p:spTree>
    <p:extLst>
      <p:ext uri="{BB962C8B-B14F-4D97-AF65-F5344CB8AC3E}">
        <p14:creationId xmlns:p14="http://schemas.microsoft.com/office/powerpoint/2010/main" val="1582018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D7601DE-8F89-4A6E-BF6C-0D794CF0E459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BA87E8-AB99-4655-A32F-DC36EEECC3CC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Event-driven notifications keep customers informed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14ED49-2385-4829-86DC-F6D219BC8405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7BADDF-3509-49C6-B4B0-7E0E301970B7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B648BA-9314-47EF-A8E0-9E1C48E7CF15}"/>
              </a:ext>
            </a:extLst>
          </p:cNvPr>
          <p:cNvSpPr>
            <a:spLocks noGrp="1"/>
          </p:cNvSpPr>
          <p:nvPr/>
        </p:nvSpPr>
        <p:spPr>
          <a:xfrm>
            <a:off x="400050" y="2381250"/>
            <a:ext cx="2571750" cy="219075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C024CA-29C5-4663-A56A-29864CCA3F5B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STATUS EVENT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4C6FD2-AB97-4249-B6D0-083734100BA2}"/>
              </a:ext>
            </a:extLst>
          </p:cNvPr>
          <p:cNvSpPr>
            <a:spLocks noGrp="1"/>
          </p:cNvSpPr>
          <p:nvPr/>
        </p:nvSpPr>
        <p:spPr>
          <a:xfrm>
            <a:off x="628650" y="3143250"/>
            <a:ext cx="2114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valid repair transition is committed.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C47B41-FED5-4D18-8900-730C632D2B3B}"/>
              </a:ext>
            </a:extLst>
          </p:cNvPr>
          <p:cNvSpPr>
            <a:spLocks noGrp="1"/>
          </p:cNvSpPr>
          <p:nvPr/>
        </p:nvSpPr>
        <p:spPr>
          <a:xfrm>
            <a:off x="3314700" y="2381250"/>
            <a:ext cx="2571750" cy="219075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844C5F-4282-41CB-BC22-8757597C3421}"/>
              </a:ext>
            </a:extLst>
          </p:cNvPr>
          <p:cNvSpPr>
            <a:spLocks noGrp="1"/>
          </p:cNvSpPr>
          <p:nvPr/>
        </p:nvSpPr>
        <p:spPr>
          <a:xfrm>
            <a:off x="3524250" y="26098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PREFERENCE CHECK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EC6576-445B-47A0-8ED1-66BCC641266D}"/>
              </a:ext>
            </a:extLst>
          </p:cNvPr>
          <p:cNvSpPr>
            <a:spLocks noGrp="1"/>
          </p:cNvSpPr>
          <p:nvPr/>
        </p:nvSpPr>
        <p:spPr>
          <a:xfrm>
            <a:off x="3543300" y="3143250"/>
            <a:ext cx="2114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Tenant settings decide enabled channels.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4D7735-DD7F-4D45-A959-5999E1C45321}"/>
              </a:ext>
            </a:extLst>
          </p:cNvPr>
          <p:cNvSpPr>
            <a:spLocks noGrp="1"/>
          </p:cNvSpPr>
          <p:nvPr/>
        </p:nvSpPr>
        <p:spPr>
          <a:xfrm>
            <a:off x="6229350" y="2381250"/>
            <a:ext cx="2571750" cy="219075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5DEC82-601A-472F-98A5-F5A2145D2237}"/>
              </a:ext>
            </a:extLst>
          </p:cNvPr>
          <p:cNvSpPr>
            <a:spLocks noGrp="1"/>
          </p:cNvSpPr>
          <p:nvPr/>
        </p:nvSpPr>
        <p:spPr>
          <a:xfrm>
            <a:off x="6438900" y="26098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1B394A-581F-48F7-A0C0-C1836D6570E5}"/>
              </a:ext>
            </a:extLst>
          </p:cNvPr>
          <p:cNvSpPr>
            <a:spLocks noGrp="1"/>
          </p:cNvSpPr>
          <p:nvPr/>
        </p:nvSpPr>
        <p:spPr>
          <a:xfrm>
            <a:off x="6457950" y="3143250"/>
            <a:ext cx="2114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In-app and email delivery attempts are recorded.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ACEC57-311E-46A7-8A29-36D6A15D7094}"/>
              </a:ext>
            </a:extLst>
          </p:cNvPr>
          <p:cNvSpPr>
            <a:spLocks noGrp="1"/>
          </p:cNvSpPr>
          <p:nvPr/>
        </p:nvSpPr>
        <p:spPr>
          <a:xfrm>
            <a:off x="9144000" y="2381250"/>
            <a:ext cx="2571750" cy="219075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9E060B-D29C-4D1B-8A99-AD42990A8116}"/>
              </a:ext>
            </a:extLst>
          </p:cNvPr>
          <p:cNvSpPr>
            <a:spLocks noGrp="1"/>
          </p:cNvSpPr>
          <p:nvPr/>
        </p:nvSpPr>
        <p:spPr>
          <a:xfrm>
            <a:off x="9353550" y="26098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1F3196-E5A4-433B-B074-AC5C4348B519}"/>
              </a:ext>
            </a:extLst>
          </p:cNvPr>
          <p:cNvSpPr>
            <a:spLocks noGrp="1"/>
          </p:cNvSpPr>
          <p:nvPr/>
        </p:nvSpPr>
        <p:spPr>
          <a:xfrm>
            <a:off x="9372600" y="3143250"/>
            <a:ext cx="2114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Provider ID, sent time or failure state is retained.</a:t>
            </a:r>
          </a:p>
        </p:txBody>
      </p:sp>
      <p:cxnSp>
        <p:nvCxnSpPr>
          <p:cNvPr id="37" name="Straight Arrow Connector 36"/>
          <p:cNvCxnSpPr>
            <a:stCxn id="5" idx="3"/>
            <a:endCxn id="8" idx="1"/>
          </p:cNvCxnSpPr>
          <p:nvPr/>
        </p:nvCxnSpPr>
        <p:spPr>
          <a:xfrm>
            <a:off x="2971800" y="3476625"/>
            <a:ext cx="3429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38" name="Straight Arrow Connector 37"/>
          <p:cNvCxnSpPr>
            <a:stCxn id="8" idx="3"/>
            <a:endCxn id="11" idx="1"/>
          </p:cNvCxnSpPr>
          <p:nvPr/>
        </p:nvCxnSpPr>
        <p:spPr>
          <a:xfrm>
            <a:off x="5886450" y="3476625"/>
            <a:ext cx="3429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39" name="Straight Arrow Connector 38"/>
          <p:cNvCxnSpPr>
            <a:stCxn id="11" idx="3"/>
            <a:endCxn id="14" idx="1"/>
          </p:cNvCxnSpPr>
          <p:nvPr/>
        </p:nvCxnSpPr>
        <p:spPr>
          <a:xfrm>
            <a:off x="8801100" y="3476625"/>
            <a:ext cx="3429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5FD291C-4B04-4CCB-AA8C-7B59C2BDD108}"/>
              </a:ext>
            </a:extLst>
          </p:cNvPr>
          <p:cNvSpPr>
            <a:spLocks noGrp="1"/>
          </p:cNvSpPr>
          <p:nvPr/>
        </p:nvSpPr>
        <p:spPr>
          <a:xfrm>
            <a:off x="1790700" y="5219700"/>
            <a:ext cx="8610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Events include repair milestones, invoice issue and payment recording; provider credentials remain environment-managed.</a:t>
            </a:r>
          </a:p>
        </p:txBody>
      </p:sp>
    </p:spTree>
    <p:extLst>
      <p:ext uri="{BB962C8B-B14F-4D97-AF65-F5344CB8AC3E}">
        <p14:creationId xmlns:p14="http://schemas.microsoft.com/office/powerpoint/2010/main" val="784099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9FD5203-803E-415A-A0A4-F3ADDFC26954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366635-E143-4D89-9F21-D627B020E52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88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Reports transform operational records into management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C99F1D-3E13-42DC-9362-12065FC10B4A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B2A645-2652-42C5-BEE7-9D750B479967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695450"/>
            <a:ext cx="6858000" cy="4286250"/>
          </a:xfrm>
          <a:prstGeom prst="roundRect">
            <a:avLst>
              <a:gd name="adj" fmla="val 2667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1ED212-D374-46F0-B8BA-2AC3697BF069}"/>
              </a:ext>
            </a:extLst>
          </p:cNvPr>
          <p:cNvSpPr>
            <a:spLocks noGrp="1"/>
          </p:cNvSpPr>
          <p:nvPr/>
        </p:nvSpPr>
        <p:spPr>
          <a:xfrm>
            <a:off x="7715250" y="18573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048AD9-64D1-476D-8A9A-5562C809BACA}"/>
              </a:ext>
            </a:extLst>
          </p:cNvPr>
          <p:cNvSpPr>
            <a:spLocks noGrp="1"/>
          </p:cNvSpPr>
          <p:nvPr/>
        </p:nvSpPr>
        <p:spPr>
          <a:xfrm>
            <a:off x="7981950" y="1790700"/>
            <a:ext cx="3448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Date-range repair trends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3AB1BD-C382-4E18-B03E-05D0F6DD7CAC}"/>
              </a:ext>
            </a:extLst>
          </p:cNvPr>
          <p:cNvSpPr>
            <a:spLocks noGrp="1"/>
          </p:cNvSpPr>
          <p:nvPr/>
        </p:nvSpPr>
        <p:spPr>
          <a:xfrm>
            <a:off x="7715250" y="2400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BFC35E-83C4-4AED-B48C-E4228F5816DF}"/>
              </a:ext>
            </a:extLst>
          </p:cNvPr>
          <p:cNvSpPr>
            <a:spLocks noGrp="1"/>
          </p:cNvSpPr>
          <p:nvPr/>
        </p:nvSpPr>
        <p:spPr>
          <a:xfrm>
            <a:off x="7981950" y="2333625"/>
            <a:ext cx="3448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Status and device distribution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DEAAE4-A21C-4776-A209-B96B61B7C753}"/>
              </a:ext>
            </a:extLst>
          </p:cNvPr>
          <p:cNvSpPr>
            <a:spLocks noGrp="1"/>
          </p:cNvSpPr>
          <p:nvPr/>
        </p:nvSpPr>
        <p:spPr>
          <a:xfrm>
            <a:off x="7715250" y="2943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E90FDF-F225-4203-BA0B-F3EB95A0E855}"/>
              </a:ext>
            </a:extLst>
          </p:cNvPr>
          <p:cNvSpPr>
            <a:spLocks noGrp="1"/>
          </p:cNvSpPr>
          <p:nvPr/>
        </p:nvSpPr>
        <p:spPr>
          <a:xfrm>
            <a:off x="7981950" y="2876550"/>
            <a:ext cx="3448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Technician workload and completion rate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F8ABFF-95BA-4A62-8E0B-04F1FBE009E1}"/>
              </a:ext>
            </a:extLst>
          </p:cNvPr>
          <p:cNvSpPr>
            <a:spLocks noGrp="1"/>
          </p:cNvSpPr>
          <p:nvPr/>
        </p:nvSpPr>
        <p:spPr>
          <a:xfrm>
            <a:off x="7715250" y="34861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77C3E5-8BC5-4BB3-B28D-8474FCAF27F5}"/>
              </a:ext>
            </a:extLst>
          </p:cNvPr>
          <p:cNvSpPr>
            <a:spLocks noGrp="1"/>
          </p:cNvSpPr>
          <p:nvPr/>
        </p:nvSpPr>
        <p:spPr>
          <a:xfrm>
            <a:off x="7981950" y="3419475"/>
            <a:ext cx="3448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Revenue and invoice balances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A0BD2C-154B-4F50-B93F-F75398AFC880}"/>
              </a:ext>
            </a:extLst>
          </p:cNvPr>
          <p:cNvSpPr>
            <a:spLocks noGrp="1"/>
          </p:cNvSpPr>
          <p:nvPr/>
        </p:nvSpPr>
        <p:spPr>
          <a:xfrm>
            <a:off x="7715250" y="40290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AD6A3-A21C-4D18-AF93-F01820FA5BCA}"/>
              </a:ext>
            </a:extLst>
          </p:cNvPr>
          <p:cNvSpPr>
            <a:spLocks noGrp="1"/>
          </p:cNvSpPr>
          <p:nvPr/>
        </p:nvSpPr>
        <p:spPr>
          <a:xfrm>
            <a:off x="7981950" y="3962400"/>
            <a:ext cx="3448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Payments by method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E025A2-7076-4861-B28D-4EB3DF690AA4}"/>
              </a:ext>
            </a:extLst>
          </p:cNvPr>
          <p:cNvSpPr>
            <a:spLocks noGrp="1"/>
          </p:cNvSpPr>
          <p:nvPr/>
        </p:nvSpPr>
        <p:spPr>
          <a:xfrm>
            <a:off x="7715250" y="4572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C0242-1AF3-4088-956D-380513EA186D}"/>
              </a:ext>
            </a:extLst>
          </p:cNvPr>
          <p:cNvSpPr>
            <a:spLocks noGrp="1"/>
          </p:cNvSpPr>
          <p:nvPr/>
        </p:nvSpPr>
        <p:spPr>
          <a:xfrm>
            <a:off x="7981950" y="4505325"/>
            <a:ext cx="3448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Low stock and most-used parts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FA26DF-18BE-47DF-A711-1AF0CBAFE877}"/>
              </a:ext>
            </a:extLst>
          </p:cNvPr>
          <p:cNvSpPr>
            <a:spLocks noGrp="1"/>
          </p:cNvSpPr>
          <p:nvPr/>
        </p:nvSpPr>
        <p:spPr>
          <a:xfrm>
            <a:off x="7715250" y="51149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EFAE16-010E-4FD8-BE7D-C9D21A497BB6}"/>
              </a:ext>
            </a:extLst>
          </p:cNvPr>
          <p:cNvSpPr>
            <a:spLocks noGrp="1"/>
          </p:cNvSpPr>
          <p:nvPr/>
        </p:nvSpPr>
        <p:spPr>
          <a:xfrm>
            <a:off x="7981950" y="5048250"/>
            <a:ext cx="3448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CSV repair export</a:t>
            </a:r>
          </a:p>
        </p:txBody>
      </p:sp>
    </p:spTree>
    <p:extLst>
      <p:ext uri="{BB962C8B-B14F-4D97-AF65-F5344CB8AC3E}">
        <p14:creationId xmlns:p14="http://schemas.microsoft.com/office/powerpoint/2010/main" val="1190256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7BBF04E-E1B1-4060-B588-5E472B4A724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D673F8-2C49-4440-8F83-0E416F248754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776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Security is enforced through multiple independent control layers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971EF4-0FC0-4D3A-98D5-D351CA46317C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C87ADF-A888-4944-A43D-C7DF878E4626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AFBFD4-EBFA-4E30-8418-EAFDE453BB7D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2000250" cy="310515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8AD430-483B-4B72-A094-7F8D9DA1B016}"/>
              </a:ext>
            </a:extLst>
          </p:cNvPr>
          <p:cNvSpPr>
            <a:spLocks noGrp="1"/>
          </p:cNvSpPr>
          <p:nvPr/>
        </p:nvSpPr>
        <p:spPr>
          <a:xfrm>
            <a:off x="590550" y="22098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2FDA4-FFD4-4A1D-9F0D-F8E549376E1F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EEA13-7241-4109-91B8-24B7AA953DBD}"/>
              </a:ext>
            </a:extLst>
          </p:cNvPr>
          <p:cNvSpPr>
            <a:spLocks noGrp="1"/>
          </p:cNvSpPr>
          <p:nvPr/>
        </p:nvSpPr>
        <p:spPr>
          <a:xfrm>
            <a:off x="590550" y="348615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Argon2id | verification | lockout</a:t>
            </a:r>
          </a:p>
          <a:p>
            <a:pPr algn="ctr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JWT access | rotating refresh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90962A-2C5C-40F7-94D5-A2E703487961}"/>
              </a:ext>
            </a:extLst>
          </p:cNvPr>
          <p:cNvSpPr>
            <a:spLocks noGrp="1"/>
          </p:cNvSpPr>
          <p:nvPr/>
        </p:nvSpPr>
        <p:spPr>
          <a:xfrm>
            <a:off x="2676525" y="2000250"/>
            <a:ext cx="2000250" cy="3105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3AE5DC-FE00-4F3F-82F1-ED6DBAEA67C8}"/>
              </a:ext>
            </a:extLst>
          </p:cNvPr>
          <p:cNvSpPr>
            <a:spLocks noGrp="1"/>
          </p:cNvSpPr>
          <p:nvPr/>
        </p:nvSpPr>
        <p:spPr>
          <a:xfrm>
            <a:off x="2867025" y="22098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061B3-7A61-4186-A4B9-36FF7FF9D46A}"/>
              </a:ext>
            </a:extLst>
          </p:cNvPr>
          <p:cNvSpPr>
            <a:spLocks noGrp="1"/>
          </p:cNvSpPr>
          <p:nvPr/>
        </p:nvSpPr>
        <p:spPr>
          <a:xfrm>
            <a:off x="2867025" y="27241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90524E-BD77-4A68-8B77-2108B77E6D59}"/>
              </a:ext>
            </a:extLst>
          </p:cNvPr>
          <p:cNvSpPr>
            <a:spLocks noGrp="1"/>
          </p:cNvSpPr>
          <p:nvPr/>
        </p:nvSpPr>
        <p:spPr>
          <a:xfrm>
            <a:off x="2867025" y="348615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RBAC | business scope</a:t>
            </a:r>
          </a:p>
          <a:p>
            <a:pPr algn="ctr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object ownership | role routes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A085C8-A2B9-4DDB-8853-FE5B3D0887F0}"/>
              </a:ext>
            </a:extLst>
          </p:cNvPr>
          <p:cNvSpPr>
            <a:spLocks noGrp="1"/>
          </p:cNvSpPr>
          <p:nvPr/>
        </p:nvSpPr>
        <p:spPr>
          <a:xfrm>
            <a:off x="4953000" y="2000250"/>
            <a:ext cx="2000250" cy="3105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D9B67E-0B17-4456-A123-BC5BEE7F86E6}"/>
              </a:ext>
            </a:extLst>
          </p:cNvPr>
          <p:cNvSpPr>
            <a:spLocks noGrp="1"/>
          </p:cNvSpPr>
          <p:nvPr/>
        </p:nvSpPr>
        <p:spPr>
          <a:xfrm>
            <a:off x="5143500" y="22098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F6118D-6643-4E6B-A5AC-EEDEDB4B1C30}"/>
              </a:ext>
            </a:extLst>
          </p:cNvPr>
          <p:cNvSpPr>
            <a:spLocks noGrp="1"/>
          </p:cNvSpPr>
          <p:nvPr/>
        </p:nvSpPr>
        <p:spPr>
          <a:xfrm>
            <a:off x="5143500" y="27241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API DEFENCE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7E6E6E-7370-4F97-A1CB-6EDBE0D4CDF3}"/>
              </a:ext>
            </a:extLst>
          </p:cNvPr>
          <p:cNvSpPr>
            <a:spLocks noGrp="1"/>
          </p:cNvSpPr>
          <p:nvPr/>
        </p:nvSpPr>
        <p:spPr>
          <a:xfrm>
            <a:off x="5143500" y="348615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Zod validation | rate limits</a:t>
            </a:r>
          </a:p>
          <a:p>
            <a:pPr algn="ctr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secure headers | CORS | size limits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1122B5-2CBC-452C-9331-7272F30E2C9B}"/>
              </a:ext>
            </a:extLst>
          </p:cNvPr>
          <p:cNvSpPr>
            <a:spLocks noGrp="1"/>
          </p:cNvSpPr>
          <p:nvPr/>
        </p:nvSpPr>
        <p:spPr>
          <a:xfrm>
            <a:off x="7229475" y="2000250"/>
            <a:ext cx="2000250" cy="3105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E7E176-1F85-4093-8609-FC29444764CB}"/>
              </a:ext>
            </a:extLst>
          </p:cNvPr>
          <p:cNvSpPr>
            <a:spLocks noGrp="1"/>
          </p:cNvSpPr>
          <p:nvPr/>
        </p:nvSpPr>
        <p:spPr>
          <a:xfrm>
            <a:off x="7419975" y="22098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33EF42-C1FC-4AB7-90AC-35B665315ED5}"/>
              </a:ext>
            </a:extLst>
          </p:cNvPr>
          <p:cNvSpPr>
            <a:spLocks noGrp="1"/>
          </p:cNvSpPr>
          <p:nvPr/>
        </p:nvSpPr>
        <p:spPr>
          <a:xfrm>
            <a:off x="7419975" y="27241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 PROTECTION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DEE5A8-4B74-4E0F-9E29-0A294F8231A3}"/>
              </a:ext>
            </a:extLst>
          </p:cNvPr>
          <p:cNvSpPr>
            <a:spLocks noGrp="1"/>
          </p:cNvSpPr>
          <p:nvPr/>
        </p:nvSpPr>
        <p:spPr>
          <a:xfrm>
            <a:off x="7419975" y="348615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Prisma parameterization | encryption</a:t>
            </a:r>
          </a:p>
          <a:p>
            <a:pPr algn="ctr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soft deletion | secret isolation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EECE0E-7C1D-49BB-B2D1-F9F1B8F1B55F}"/>
              </a:ext>
            </a:extLst>
          </p:cNvPr>
          <p:cNvSpPr>
            <a:spLocks noGrp="1"/>
          </p:cNvSpPr>
          <p:nvPr/>
        </p:nvSpPr>
        <p:spPr>
          <a:xfrm>
            <a:off x="9505950" y="2000250"/>
            <a:ext cx="2000250" cy="3105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0B0CE-9BF1-4238-B9C9-26B596563DCD}"/>
              </a:ext>
            </a:extLst>
          </p:cNvPr>
          <p:cNvSpPr>
            <a:spLocks noGrp="1"/>
          </p:cNvSpPr>
          <p:nvPr/>
        </p:nvSpPr>
        <p:spPr>
          <a:xfrm>
            <a:off x="9696450" y="22098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35696-5033-418E-8DC1-2B5C32D5378D}"/>
              </a:ext>
            </a:extLst>
          </p:cNvPr>
          <p:cNvSpPr>
            <a:spLocks noGrp="1"/>
          </p:cNvSpPr>
          <p:nvPr/>
        </p:nvSpPr>
        <p:spPr>
          <a:xfrm>
            <a:off x="9696450" y="27241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D6A1D1-DE00-4C27-8E59-090918FBDBB7}"/>
              </a:ext>
            </a:extLst>
          </p:cNvPr>
          <p:cNvSpPr>
            <a:spLocks noGrp="1"/>
          </p:cNvSpPr>
          <p:nvPr/>
        </p:nvSpPr>
        <p:spPr>
          <a:xfrm>
            <a:off x="9696450" y="348615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Immutable audit events</a:t>
            </a:r>
          </a:p>
          <a:p>
            <a:pPr algn="ctr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IP, session, actor and metadata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16FE39-FEB6-4C7E-8920-C0688314D8F8}"/>
              </a:ext>
            </a:extLst>
          </p:cNvPr>
          <p:cNvSpPr>
            <a:spLocks noGrp="1"/>
          </p:cNvSpPr>
          <p:nvPr/>
        </p:nvSpPr>
        <p:spPr>
          <a:xfrm>
            <a:off x="1581150" y="5524500"/>
            <a:ext cx="9029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browser never becomes the security boundary; every sensitive backend query includes role, tenant and ownership conditions.</a:t>
            </a:r>
          </a:p>
        </p:txBody>
      </p:sp>
    </p:spTree>
    <p:extLst>
      <p:ext uri="{BB962C8B-B14F-4D97-AF65-F5344CB8AC3E}">
        <p14:creationId xmlns:p14="http://schemas.microsoft.com/office/powerpoint/2010/main" val="914287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13F18DE-DAE8-4272-B7E8-A2877087A76F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4F40D6-F38A-4BC3-A28A-4209BE55608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interface is responsive, accessible and consistent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6ABAD-57BB-47D9-B51A-E94D5AF7233C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002D1B-4662-4864-B9A4-C9632465CB5E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35BD41-384C-4C6D-800D-16A148C27458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DESIGN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8FC57-1872-41E9-BA2F-2D9EEE33E14F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5048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Material UI components provide a consistent visual language across dashboards, tables, dialogs, forms and status indicators.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BB3270-906C-4614-82C5-F5D79807AA87}"/>
              </a:ext>
            </a:extLst>
          </p:cNvPr>
          <p:cNvSpPr>
            <a:spLocks noGrp="1"/>
          </p:cNvSpPr>
          <p:nvPr/>
        </p:nvSpPr>
        <p:spPr>
          <a:xfrm>
            <a:off x="400050" y="38195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1074A3-16FD-4049-AFC1-2FF6744B8467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47815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Desktop sidebar becomes a compact-viewport drawer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D54A77-3267-4FBC-BFB9-38582BDEE0A0}"/>
              </a:ext>
            </a:extLst>
          </p:cNvPr>
          <p:cNvSpPr>
            <a:spLocks noGrp="1"/>
          </p:cNvSpPr>
          <p:nvPr/>
        </p:nvSpPr>
        <p:spPr>
          <a:xfrm>
            <a:off x="400050" y="42672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272D45-99A0-4465-A50F-AE3049377DD5}"/>
              </a:ext>
            </a:extLst>
          </p:cNvPr>
          <p:cNvSpPr>
            <a:spLocks noGrp="1"/>
          </p:cNvSpPr>
          <p:nvPr/>
        </p:nvSpPr>
        <p:spPr>
          <a:xfrm>
            <a:off x="666750" y="4200525"/>
            <a:ext cx="47815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Responsive grids and scroll-safe tables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534202-10F6-4375-8D82-FB3FD270F74E}"/>
              </a:ext>
            </a:extLst>
          </p:cNvPr>
          <p:cNvSpPr>
            <a:spLocks noGrp="1"/>
          </p:cNvSpPr>
          <p:nvPr/>
        </p:nvSpPr>
        <p:spPr>
          <a:xfrm>
            <a:off x="400050" y="47148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81E95-71A1-4835-B74C-7DC863404B56}"/>
              </a:ext>
            </a:extLst>
          </p:cNvPr>
          <p:cNvSpPr>
            <a:spLocks noGrp="1"/>
          </p:cNvSpPr>
          <p:nvPr/>
        </p:nvSpPr>
        <p:spPr>
          <a:xfrm>
            <a:off x="666750" y="4648200"/>
            <a:ext cx="47815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Light and dark display modes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FADE0E-DD42-4A6D-A524-6203A45597E9}"/>
              </a:ext>
            </a:extLst>
          </p:cNvPr>
          <p:cNvSpPr>
            <a:spLocks noGrp="1"/>
          </p:cNvSpPr>
          <p:nvPr/>
        </p:nvSpPr>
        <p:spPr>
          <a:xfrm>
            <a:off x="400050" y="5162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EE386E-283D-4A38-BF6F-17BF480A948C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47815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Loading, empty, error and confirmation states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A0881A-0763-40D9-8628-E8DA6233650E}"/>
              </a:ext>
            </a:extLst>
          </p:cNvPr>
          <p:cNvSpPr>
            <a:spLocks noGrp="1"/>
          </p:cNvSpPr>
          <p:nvPr/>
        </p:nvSpPr>
        <p:spPr>
          <a:xfrm>
            <a:off x="400050" y="5610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0C4150-19B8-4B49-98DA-0EBE43777AF0}"/>
              </a:ext>
            </a:extLst>
          </p:cNvPr>
          <p:cNvSpPr>
            <a:spLocks noGrp="1"/>
          </p:cNvSpPr>
          <p:nvPr/>
        </p:nvSpPr>
        <p:spPr>
          <a:xfrm>
            <a:off x="666750" y="5543550"/>
            <a:ext cx="47815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Keyboard-focused forms and skip-to-content link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0" y="1772841"/>
            <a:ext cx="5695950" cy="3559969"/>
          </a:xfrm>
          <a:prstGeom prst="roundRect">
            <a:avLst>
              <a:gd name="adj" fmla="val 3209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7E7679F-3052-4673-8853-B633D321ACB9}"/>
              </a:ext>
            </a:extLst>
          </p:cNvPr>
          <p:cNvSpPr>
            <a:spLocks noGrp="1"/>
          </p:cNvSpPr>
          <p:nvPr/>
        </p:nvSpPr>
        <p:spPr>
          <a:xfrm>
            <a:off x="6400800" y="556260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Brand palette: #2563EB | #0F172A | #10B981 | #F59E0B | #EF4444</a:t>
            </a:r>
          </a:p>
        </p:txBody>
      </p:sp>
    </p:spTree>
    <p:extLst>
      <p:ext uri="{BB962C8B-B14F-4D97-AF65-F5344CB8AC3E}">
        <p14:creationId xmlns:p14="http://schemas.microsoft.com/office/powerpoint/2010/main" val="1853595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66A8906-D9C8-431E-8ADD-5A898121B52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8ABDE0-262F-4DC2-A1FA-C267EACF5B93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170" lnSpcReduction="20000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Automated verification covers the web stack from types to security boundaries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B569D1-7B92-434A-B6A6-D8D96908371E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08BFAF-94B6-4B77-A9C5-019DAF2D6AAA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C47277-A6ED-4FAB-B4A3-85D6A1C7F2EC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2571750" cy="2343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2ADC43-22F0-4E17-BA6D-F7D2B665170E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76200" cy="2343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A4E4E1-AC13-4CD3-A407-12062E6BF14B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2038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18/18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6DA779-B09F-447C-AD84-E91A750DD232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Backend tests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C8190B-520E-45E7-B4EB-6D0D6A37C0D4}"/>
              </a:ext>
            </a:extLst>
          </p:cNvPr>
          <p:cNvSpPr>
            <a:spLocks noGrp="1"/>
          </p:cNvSpPr>
          <p:nvPr/>
        </p:nvSpPr>
        <p:spPr>
          <a:xfrm>
            <a:off x="666750" y="3390900"/>
            <a:ext cx="2038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Authentication, account state, security, workflow, invoice and payment rules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EDB3A9-EFA2-4B77-B6F6-79060A3D09C5}"/>
              </a:ext>
            </a:extLst>
          </p:cNvPr>
          <p:cNvSpPr>
            <a:spLocks noGrp="1"/>
          </p:cNvSpPr>
          <p:nvPr/>
        </p:nvSpPr>
        <p:spPr>
          <a:xfrm>
            <a:off x="3333750" y="1866900"/>
            <a:ext cx="2571750" cy="2343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CE8799-D120-4B84-A8FC-8AA1FA4CEB6B}"/>
              </a:ext>
            </a:extLst>
          </p:cNvPr>
          <p:cNvSpPr>
            <a:spLocks noGrp="1"/>
          </p:cNvSpPr>
          <p:nvPr/>
        </p:nvSpPr>
        <p:spPr>
          <a:xfrm>
            <a:off x="3333750" y="1866900"/>
            <a:ext cx="76200" cy="234315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4FA3FB-2191-451B-9D98-92311EB7A3E8}"/>
              </a:ext>
            </a:extLst>
          </p:cNvPr>
          <p:cNvSpPr>
            <a:spLocks noGrp="1"/>
          </p:cNvSpPr>
          <p:nvPr/>
        </p:nvSpPr>
        <p:spPr>
          <a:xfrm>
            <a:off x="3600450" y="2152650"/>
            <a:ext cx="2038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8F7C4A-311D-4536-B047-D56612A0260C}"/>
              </a:ext>
            </a:extLst>
          </p:cNvPr>
          <p:cNvSpPr>
            <a:spLocks noGrp="1"/>
          </p:cNvSpPr>
          <p:nvPr/>
        </p:nvSpPr>
        <p:spPr>
          <a:xfrm>
            <a:off x="3600450" y="2933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Web tests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FC8E48-A267-4D59-A93D-7B91891723F5}"/>
              </a:ext>
            </a:extLst>
          </p:cNvPr>
          <p:cNvSpPr>
            <a:spLocks noGrp="1"/>
          </p:cNvSpPr>
          <p:nvPr/>
        </p:nvSpPr>
        <p:spPr>
          <a:xfrm>
            <a:off x="3600450" y="3390900"/>
            <a:ext cx="2038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API retry contract and reusable interface components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E2CD14-4071-4B5F-B2A0-69A3A2E9B89C}"/>
              </a:ext>
            </a:extLst>
          </p:cNvPr>
          <p:cNvSpPr>
            <a:spLocks noGrp="1"/>
          </p:cNvSpPr>
          <p:nvPr/>
        </p:nvSpPr>
        <p:spPr>
          <a:xfrm>
            <a:off x="6267450" y="1866900"/>
            <a:ext cx="2571750" cy="2343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760E6E-372A-4AAF-B1C0-0A9A5F488398}"/>
              </a:ext>
            </a:extLst>
          </p:cNvPr>
          <p:cNvSpPr>
            <a:spLocks noGrp="1"/>
          </p:cNvSpPr>
          <p:nvPr/>
        </p:nvSpPr>
        <p:spPr>
          <a:xfrm>
            <a:off x="6267450" y="1866900"/>
            <a:ext cx="76200" cy="234315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63D84-0CFA-460E-A7FE-0CE190CCF5D3}"/>
              </a:ext>
            </a:extLst>
          </p:cNvPr>
          <p:cNvSpPr>
            <a:spLocks noGrp="1"/>
          </p:cNvSpPr>
          <p:nvPr/>
        </p:nvSpPr>
        <p:spPr>
          <a:xfrm>
            <a:off x="6534150" y="2152650"/>
            <a:ext cx="2038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8D28D9-6F34-4D96-AA9F-055F54769F57}"/>
              </a:ext>
            </a:extLst>
          </p:cNvPr>
          <p:cNvSpPr>
            <a:spLocks noGrp="1"/>
          </p:cNvSpPr>
          <p:nvPr/>
        </p:nvSpPr>
        <p:spPr>
          <a:xfrm>
            <a:off x="6534150" y="2933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Lint/type errors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0D24DB-7529-41E0-BD26-A87EC9D470B0}"/>
              </a:ext>
            </a:extLst>
          </p:cNvPr>
          <p:cNvSpPr>
            <a:spLocks noGrp="1"/>
          </p:cNvSpPr>
          <p:nvPr/>
        </p:nvSpPr>
        <p:spPr>
          <a:xfrm>
            <a:off x="6534150" y="3390900"/>
            <a:ext cx="2038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Backend and web static checks completed cleanly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E6EBD4-405F-417D-AAA3-6DCED69B925F}"/>
              </a:ext>
            </a:extLst>
          </p:cNvPr>
          <p:cNvSpPr>
            <a:spLocks noGrp="1"/>
          </p:cNvSpPr>
          <p:nvPr/>
        </p:nvSpPr>
        <p:spPr>
          <a:xfrm>
            <a:off x="9201150" y="1866900"/>
            <a:ext cx="2571750" cy="2343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74EEE6-C56D-41A9-86B9-5D1A7D01E633}"/>
              </a:ext>
            </a:extLst>
          </p:cNvPr>
          <p:cNvSpPr>
            <a:spLocks noGrp="1"/>
          </p:cNvSpPr>
          <p:nvPr/>
        </p:nvSpPr>
        <p:spPr>
          <a:xfrm>
            <a:off x="9201150" y="1866900"/>
            <a:ext cx="76200" cy="23431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2A7882-F52F-4014-B0F6-B5C79E7FCD19}"/>
              </a:ext>
            </a:extLst>
          </p:cNvPr>
          <p:cNvSpPr>
            <a:spLocks noGrp="1"/>
          </p:cNvSpPr>
          <p:nvPr/>
        </p:nvSpPr>
        <p:spPr>
          <a:xfrm>
            <a:off x="9467850" y="2152650"/>
            <a:ext cx="2038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1,092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39A40-E2B0-4D7A-93E2-B1FA6E8D289B}"/>
              </a:ext>
            </a:extLst>
          </p:cNvPr>
          <p:cNvSpPr>
            <a:spLocks noGrp="1"/>
          </p:cNvSpPr>
          <p:nvPr/>
        </p:nvSpPr>
        <p:spPr>
          <a:xfrm>
            <a:off x="9467850" y="2933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Modules transformed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B8A53-3EB6-48AD-B7B3-B319F7E99A1D}"/>
              </a:ext>
            </a:extLst>
          </p:cNvPr>
          <p:cNvSpPr>
            <a:spLocks noGrp="1"/>
          </p:cNvSpPr>
          <p:nvPr/>
        </p:nvSpPr>
        <p:spPr>
          <a:xfrm>
            <a:off x="9467850" y="3390900"/>
            <a:ext cx="2038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Successfully processed in the production Vite build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C1F671-6B83-4BF1-95F2-44671D7D41F6}"/>
              </a:ext>
            </a:extLst>
          </p:cNvPr>
          <p:cNvSpPr>
            <a:spLocks noGrp="1"/>
          </p:cNvSpPr>
          <p:nvPr/>
        </p:nvSpPr>
        <p:spPr>
          <a:xfrm>
            <a:off x="1333500" y="49149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Production bundle: 273.35 kB application chunk (79.94 kB gzip) plus separated React, data and UI vendor chunks.</a:t>
            </a:r>
          </a:p>
        </p:txBody>
      </p:sp>
    </p:spTree>
    <p:extLst>
      <p:ext uri="{BB962C8B-B14F-4D97-AF65-F5344CB8AC3E}">
        <p14:creationId xmlns:p14="http://schemas.microsoft.com/office/powerpoint/2010/main" val="609777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A72902C-E1F3-40F8-8332-F7A40DBFCA5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F08F4B-2B59-4D85-BD2C-2BD7F6A5EF2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Validation was incremental and evidence-driven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E25E3-210B-4D90-998F-85AB9D79528D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D59D72-2BA4-48E9-80C2-FD2A296A311E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E19F24-9F87-418D-A021-AA9A07806C62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3524250" cy="150495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35FD88-AFDF-444F-A9D0-3885CF325A46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8F77EA-C8F5-4751-9BC3-0BABF49B2FEB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3105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ESLint and TypeScript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FF4CB4-8597-4028-B09A-EFABBD412D9E}"/>
              </a:ext>
            </a:extLst>
          </p:cNvPr>
          <p:cNvSpPr>
            <a:spLocks noGrp="1"/>
          </p:cNvSpPr>
          <p:nvPr/>
        </p:nvSpPr>
        <p:spPr>
          <a:xfrm>
            <a:off x="4257675" y="1866900"/>
            <a:ext cx="3524250" cy="150495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10BBFD-CA88-44C5-BAD5-1BFDF4E54905}"/>
              </a:ext>
            </a:extLst>
          </p:cNvPr>
          <p:cNvSpPr>
            <a:spLocks noGrp="1"/>
          </p:cNvSpPr>
          <p:nvPr/>
        </p:nvSpPr>
        <p:spPr>
          <a:xfrm>
            <a:off x="4467225" y="20764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UNIT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82C40F-5283-4E2A-9192-7735C62B1718}"/>
              </a:ext>
            </a:extLst>
          </p:cNvPr>
          <p:cNvSpPr>
            <a:spLocks noGrp="1"/>
          </p:cNvSpPr>
          <p:nvPr/>
        </p:nvSpPr>
        <p:spPr>
          <a:xfrm>
            <a:off x="4467225" y="2514600"/>
            <a:ext cx="3105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Business-rule tests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98E2F1-14D9-46F6-ACF4-5692455E12E7}"/>
              </a:ext>
            </a:extLst>
          </p:cNvPr>
          <p:cNvSpPr>
            <a:spLocks noGrp="1"/>
          </p:cNvSpPr>
          <p:nvPr/>
        </p:nvSpPr>
        <p:spPr>
          <a:xfrm>
            <a:off x="8115300" y="1866900"/>
            <a:ext cx="3524250" cy="150495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5CDF24-3765-4E99-BA34-9A6397EAAE5A}"/>
              </a:ext>
            </a:extLst>
          </p:cNvPr>
          <p:cNvSpPr>
            <a:spLocks noGrp="1"/>
          </p:cNvSpPr>
          <p:nvPr/>
        </p:nvSpPr>
        <p:spPr>
          <a:xfrm>
            <a:off x="8324850" y="20764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007B7D-E492-4438-8EBD-02C1A1911D91}"/>
              </a:ext>
            </a:extLst>
          </p:cNvPr>
          <p:cNvSpPr>
            <a:spLocks noGrp="1"/>
          </p:cNvSpPr>
          <p:nvPr/>
        </p:nvSpPr>
        <p:spPr>
          <a:xfrm>
            <a:off x="8324850" y="2514600"/>
            <a:ext cx="3105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API security boundaries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1E7A71-0A69-46AF-B4FF-B8C7FB451CBB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3524250" cy="15049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E0BA20-5B37-4CB5-B6AC-950A43E7E7EC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F13CAD-334B-4ABA-8D6B-D530C55AF2DC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3105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Backend and Vite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62D678-117D-4C15-8897-14EF0C57F377}"/>
              </a:ext>
            </a:extLst>
          </p:cNvPr>
          <p:cNvSpPr>
            <a:spLocks noGrp="1"/>
          </p:cNvSpPr>
          <p:nvPr/>
        </p:nvSpPr>
        <p:spPr>
          <a:xfrm>
            <a:off x="4257675" y="3676650"/>
            <a:ext cx="3524250" cy="15049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A25A43-4FA6-493E-8ED8-E7EE894ADE16}"/>
              </a:ext>
            </a:extLst>
          </p:cNvPr>
          <p:cNvSpPr>
            <a:spLocks noGrp="1"/>
          </p:cNvSpPr>
          <p:nvPr/>
        </p:nvSpPr>
        <p:spPr>
          <a:xfrm>
            <a:off x="4467225" y="3886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SCHEMA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0E7FF0-8D47-4DE5-B245-48FCB3432133}"/>
              </a:ext>
            </a:extLst>
          </p:cNvPr>
          <p:cNvSpPr>
            <a:spLocks noGrp="1"/>
          </p:cNvSpPr>
          <p:nvPr/>
        </p:nvSpPr>
        <p:spPr>
          <a:xfrm>
            <a:off x="4467225" y="4324350"/>
            <a:ext cx="3105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Prisma and migration SQL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28F2E7-452F-4068-B19D-C5BB0ADDA49F}"/>
              </a:ext>
            </a:extLst>
          </p:cNvPr>
          <p:cNvSpPr>
            <a:spLocks noGrp="1"/>
          </p:cNvSpPr>
          <p:nvPr/>
        </p:nvSpPr>
        <p:spPr>
          <a:xfrm>
            <a:off x="8115300" y="3676650"/>
            <a:ext cx="3524250" cy="15049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B8A824-E969-47AD-83FD-85872BD0CA3D}"/>
              </a:ext>
            </a:extLst>
          </p:cNvPr>
          <p:cNvSpPr>
            <a:spLocks noGrp="1"/>
          </p:cNvSpPr>
          <p:nvPr/>
        </p:nvSpPr>
        <p:spPr>
          <a:xfrm>
            <a:off x="8324850" y="3886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FA1A3B-BDD1-464E-AAC7-CF7CE8D22988}"/>
              </a:ext>
            </a:extLst>
          </p:cNvPr>
          <p:cNvSpPr>
            <a:spLocks noGrp="1"/>
          </p:cNvSpPr>
          <p:nvPr/>
        </p:nvSpPr>
        <p:spPr>
          <a:xfrm>
            <a:off x="8324850" y="4324350"/>
            <a:ext cx="3105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560"/>
          </a:bodyPr>
          <a:lstStyle/>
          <a:p>
            <a:pPr algn="ct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Secrets, links and placeholders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C5788D-5FA6-4D77-B347-14545BAF58B2}"/>
              </a:ext>
            </a:extLst>
          </p:cNvPr>
          <p:cNvSpPr>
            <a:spLocks noGrp="1"/>
          </p:cNvSpPr>
          <p:nvPr/>
        </p:nvSpPr>
        <p:spPr>
          <a:xfrm>
            <a:off x="1885950" y="5619750"/>
            <a:ext cx="8420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912" lnSpcReduction="10000"/>
          </a:bodyPr>
          <a:lstStyle/>
          <a:p>
            <a:pPr algn="ctr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Failures were corrected and the affected checks were rerun before the next development phase or commit.</a:t>
            </a:r>
          </a:p>
        </p:txBody>
      </p:sp>
    </p:spTree>
    <p:extLst>
      <p:ext uri="{BB962C8B-B14F-4D97-AF65-F5344CB8AC3E}">
        <p14:creationId xmlns:p14="http://schemas.microsoft.com/office/powerpoint/2010/main" val="214325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422BCC9-BCF1-4448-A7EB-AB4C85F925AF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16D0AA-F772-4F3A-BD2A-10BDC6D13B8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Deployment separates public delivery from protected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4A5729-4F97-4D88-9BED-35906D3DFFE4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64D0CF-F005-40D5-9DA0-239568A27C65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381C4E-79B7-451C-AA3E-EC838FEFE7DA}"/>
              </a:ext>
            </a:extLst>
          </p:cNvPr>
          <p:cNvSpPr>
            <a:spLocks noGrp="1"/>
          </p:cNvSpPr>
          <p:nvPr/>
        </p:nvSpPr>
        <p:spPr>
          <a:xfrm>
            <a:off x="571500" y="2343150"/>
            <a:ext cx="2381250" cy="180975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94615C-F31B-4712-8B3F-30E468D37A11}"/>
              </a:ext>
            </a:extLst>
          </p:cNvPr>
          <p:cNvSpPr>
            <a:spLocks noGrp="1"/>
          </p:cNvSpPr>
          <p:nvPr/>
        </p:nvSpPr>
        <p:spPr>
          <a:xfrm>
            <a:off x="3714750" y="2343150"/>
            <a:ext cx="2381250" cy="180975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AB3876-46B6-4612-9BCF-DD828BDC0B7D}"/>
              </a:ext>
            </a:extLst>
          </p:cNvPr>
          <p:cNvSpPr>
            <a:spLocks noGrp="1"/>
          </p:cNvSpPr>
          <p:nvPr/>
        </p:nvSpPr>
        <p:spPr>
          <a:xfrm>
            <a:off x="6858000" y="2343150"/>
            <a:ext cx="2381250" cy="180975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105309-A281-403E-91EE-7EA20ABBC2C4}"/>
              </a:ext>
            </a:extLst>
          </p:cNvPr>
          <p:cNvSpPr>
            <a:spLocks noGrp="1"/>
          </p:cNvSpPr>
          <p:nvPr/>
        </p:nvSpPr>
        <p:spPr>
          <a:xfrm>
            <a:off x="9810750" y="2343150"/>
            <a:ext cx="1809750" cy="1809750"/>
          </a:xfrm>
          <a:prstGeom prst="roundRect">
            <a:avLst>
              <a:gd name="adj" fmla="val 5263"/>
            </a:avLst>
          </a:prstGeom>
          <a:solidFill>
            <a:srgbClr val="FFF7ED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cxnSp>
        <p:nvCxnSpPr>
          <p:cNvPr id="33" name="Straight Arrow Connector 32"/>
          <p:cNvCxnSpPr>
            <a:stCxn id="5" idx="3"/>
            <a:endCxn id="6" idx="1"/>
          </p:cNvCxnSpPr>
          <p:nvPr/>
        </p:nvCxnSpPr>
        <p:spPr>
          <a:xfrm>
            <a:off x="2952750" y="3248025"/>
            <a:ext cx="7620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34" name="Straight Arrow Connector 33"/>
          <p:cNvCxnSpPr>
            <a:stCxn id="6" idx="3"/>
            <a:endCxn id="7" idx="1"/>
          </p:cNvCxnSpPr>
          <p:nvPr/>
        </p:nvCxnSpPr>
        <p:spPr>
          <a:xfrm>
            <a:off x="6096000" y="3248025"/>
            <a:ext cx="7620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35" name="Straight Arrow Connector 34"/>
          <p:cNvCxnSpPr>
            <a:stCxn id="7" idx="3"/>
            <a:endCxn id="8" idx="1"/>
          </p:cNvCxnSpPr>
          <p:nvPr/>
        </p:nvCxnSpPr>
        <p:spPr>
          <a:xfrm>
            <a:off x="9239250" y="3248025"/>
            <a:ext cx="5715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D7AE1-D010-4EA4-BA5F-69B9148AA22A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STATIC WEB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40BB85-84C6-4345-BE9B-F0898B41A3AB}"/>
              </a:ext>
            </a:extLst>
          </p:cNvPr>
          <p:cNvSpPr>
            <a:spLocks noGrp="1"/>
          </p:cNvSpPr>
          <p:nvPr/>
        </p:nvSpPr>
        <p:spPr>
          <a:xfrm>
            <a:off x="742950" y="30480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Vercel / Netlify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705679-5931-4BE5-959A-097863B16744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HTTPS assets + API URL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710CC3-B65C-48BF-A839-A32763B6EF7C}"/>
              </a:ext>
            </a:extLst>
          </p:cNvPr>
          <p:cNvSpPr>
            <a:spLocks noGrp="1"/>
          </p:cNvSpPr>
          <p:nvPr/>
        </p:nvSpPr>
        <p:spPr>
          <a:xfrm>
            <a:off x="3905250" y="25717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API 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25BE6-373A-4B23-A92F-077185D7DF76}"/>
              </a:ext>
            </a:extLst>
          </p:cNvPr>
          <p:cNvSpPr>
            <a:spLocks noGrp="1"/>
          </p:cNvSpPr>
          <p:nvPr/>
        </p:nvSpPr>
        <p:spPr>
          <a:xfrm>
            <a:off x="3886200" y="30480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 lnSpcReduction="20000"/>
          </a:bodyPr>
          <a:lstStyle/>
          <a:p>
            <a:pPr algn="ctr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Render / Railway / VPS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B283D0-C5D7-4E8A-B375-51A6DF7CE77F}"/>
              </a:ext>
            </a:extLst>
          </p:cNvPr>
          <p:cNvSpPr>
            <a:spLocks noGrp="1"/>
          </p:cNvSpPr>
          <p:nvPr/>
        </p:nvSpPr>
        <p:spPr>
          <a:xfrm>
            <a:off x="3886200" y="36385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Node process + secrets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BC5021-28EE-4E99-B02B-B627183E266F}"/>
              </a:ext>
            </a:extLst>
          </p:cNvPr>
          <p:cNvSpPr>
            <a:spLocks noGrp="1"/>
          </p:cNvSpPr>
          <p:nvPr/>
        </p:nvSpPr>
        <p:spPr>
          <a:xfrm>
            <a:off x="7048500" y="25717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E82109-CAE6-42C9-B83E-C46A71C0A5BD}"/>
              </a:ext>
            </a:extLst>
          </p:cNvPr>
          <p:cNvSpPr>
            <a:spLocks noGrp="1"/>
          </p:cNvSpPr>
          <p:nvPr/>
        </p:nvSpPr>
        <p:spPr>
          <a:xfrm>
            <a:off x="7029450" y="30480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76"/>
          </a:bodyPr>
          <a:lstStyle/>
          <a:p>
            <a:pPr algn="ctr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Managed PostgreSQL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F01D01-17FA-4854-A7C7-A6A460FB1A72}"/>
              </a:ext>
            </a:extLst>
          </p:cNvPr>
          <p:cNvSpPr>
            <a:spLocks noGrp="1"/>
          </p:cNvSpPr>
          <p:nvPr/>
        </p:nvSpPr>
        <p:spPr>
          <a:xfrm>
            <a:off x="7029450" y="36385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Backups + least privilege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F81163-3C66-4E23-98D0-19F7D7A2FE5E}"/>
              </a:ext>
            </a:extLst>
          </p:cNvPr>
          <p:cNvSpPr>
            <a:spLocks noGrp="1"/>
          </p:cNvSpPr>
          <p:nvPr/>
        </p:nvSpPr>
        <p:spPr>
          <a:xfrm>
            <a:off x="10001250" y="25717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PROVIDERS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0C3F4-99F1-4C40-895A-78C1085A7852}"/>
              </a:ext>
            </a:extLst>
          </p:cNvPr>
          <p:cNvSpPr>
            <a:spLocks noGrp="1"/>
          </p:cNvSpPr>
          <p:nvPr/>
        </p:nvSpPr>
        <p:spPr>
          <a:xfrm>
            <a:off x="9982200" y="30480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87" lnSpcReduction="20000"/>
          </a:bodyPr>
          <a:lstStyle/>
          <a:p>
            <a:pPr algn="ctr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SMTP | Google OAuth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8348C2-A293-487D-93BE-A85952143FF1}"/>
              </a:ext>
            </a:extLst>
          </p:cNvPr>
          <p:cNvSpPr>
            <a:spLocks noGrp="1"/>
          </p:cNvSpPr>
          <p:nvPr/>
        </p:nvSpPr>
        <p:spPr>
          <a:xfrm>
            <a:off x="9982200" y="36385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Restricted credentials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AEDC71-D627-4645-8CE3-F76534883442}"/>
              </a:ext>
            </a:extLst>
          </p:cNvPr>
          <p:cNvSpPr>
            <a:spLocks noGrp="1"/>
          </p:cNvSpPr>
          <p:nvPr/>
        </p:nvSpPr>
        <p:spPr>
          <a:xfrm>
            <a:off x="1257300" y="4914900"/>
            <a:ext cx="9677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Production requirements: HTTPS, managed secrets, database migration, backups, CORS allowlist, provider-domain verification and monitoring.</a:t>
            </a:r>
          </a:p>
        </p:txBody>
      </p:sp>
    </p:spTree>
    <p:extLst>
      <p:ext uri="{BB962C8B-B14F-4D97-AF65-F5344CB8AC3E}">
        <p14:creationId xmlns:p14="http://schemas.microsoft.com/office/powerpoint/2010/main" val="2139383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6805151-3B0D-4F2D-B531-D25171472941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REPAIRTRACK WEB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5B090A-E428-46BE-9255-E7ECF1F3E0D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23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381" lnSpcReduction="20000"/>
          </a:bodyPr>
          <a:lstStyle/>
          <a:p>
            <a:pPr algn="l">
              <a:defRPr sz="29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Remaining work is concentrated in live infrastructure and advanced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9E457-F61C-4A41-A1DE-515E10839A4E}"/>
              </a:ext>
            </a:extLst>
          </p:cNvPr>
          <p:cNvSpPr>
            <a:spLocks noGrp="1"/>
          </p:cNvSpPr>
          <p:nvPr/>
        </p:nvSpPr>
        <p:spPr>
          <a:xfrm>
            <a:off x="400050" y="1323975"/>
            <a:ext cx="8001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EC4B85-2A0C-4CAE-B03A-2D9F78E03238}"/>
              </a:ext>
            </a:extLst>
          </p:cNvPr>
          <p:cNvSpPr>
            <a:spLocks noGrp="1"/>
          </p:cNvSpPr>
          <p:nvPr/>
        </p:nvSpPr>
        <p:spPr>
          <a:xfrm>
            <a:off x="11258550" y="63817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394E85-B07D-40D3-A51B-E7E4AE194F3B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LIVE PROVIDERS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09422-5578-4634-BEEC-2025484ADB47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533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Google sign-in, SMTP delivery and M-Pesa require real project credentials and production callback testing.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1B4396-5FC2-45B0-81A3-6EB7FBB1DEB4}"/>
              </a:ext>
            </a:extLst>
          </p:cNvPr>
          <p:cNvSpPr>
            <a:spLocks noGrp="1"/>
          </p:cNvSpPr>
          <p:nvPr/>
        </p:nvSpPr>
        <p:spPr>
          <a:xfrm>
            <a:off x="400050" y="2914650"/>
            <a:ext cx="53340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58B943-6EB4-48D8-9EA8-BAF81355035F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DATABASE EXECUTION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7621CD-49D7-4097-93F8-E3C9E644878E}"/>
              </a:ext>
            </a:extLst>
          </p:cNvPr>
          <p:cNvSpPr>
            <a:spLocks noGrp="1"/>
          </p:cNvSpPr>
          <p:nvPr/>
        </p:nvSpPr>
        <p:spPr>
          <a:xfrm>
            <a:off x="6191250" y="2076450"/>
            <a:ext cx="533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migration was schema-validated; a live fresh PostgreSQL application was not possible on the build machine.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58F373-61DD-4058-B6BD-44EF0366CDDD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53340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12AD2-B2ED-41CE-BF70-DC1EB1B709E9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ANALYTICS DEPTH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FE4E66-A514-41DF-9C23-673C555CCA18}"/>
              </a:ext>
            </a:extLst>
          </p:cNvPr>
          <p:cNvSpPr>
            <a:spLocks noGrp="1"/>
          </p:cNvSpPr>
          <p:nvPr/>
        </p:nvSpPr>
        <p:spPr>
          <a:xfrm>
            <a:off x="400050" y="3505200"/>
            <a:ext cx="533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Current reporting covers operational summaries; turnaround-time cohorts and forecasting are future enhancements.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1FC7E3-379F-4ECB-9E76-6341AFDA4AFF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53340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79884F-896C-44E9-ADC9-4D72978E1262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MEDIA STORAGE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050969-1273-4699-A711-B98260F8F973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33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interface accepts approved HTTPS media URLs; a dedicated object-storage upload pipeline can be added.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34607B-7914-4695-B145-58DB92049DF6}"/>
              </a:ext>
            </a:extLst>
          </p:cNvPr>
          <p:cNvSpPr>
            <a:spLocks noGrp="1"/>
          </p:cNvSpPr>
          <p:nvPr/>
        </p:nvSpPr>
        <p:spPr>
          <a:xfrm>
            <a:off x="6191250" y="4343400"/>
            <a:ext cx="53340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DAE9D9-7D23-4239-A003-3B968D98FFE3}"/>
              </a:ext>
            </a:extLst>
          </p:cNvPr>
          <p:cNvSpPr>
            <a:spLocks noGrp="1"/>
          </p:cNvSpPr>
          <p:nvPr/>
        </p:nvSpPr>
        <p:spPr>
          <a:xfrm>
            <a:off x="400050" y="45339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PRODUCTION OPERATIONS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AC1183-B0BB-47BE-A1DE-AB227FD1EEAF}"/>
              </a:ext>
            </a:extLst>
          </p:cNvPr>
          <p:cNvSpPr>
            <a:spLocks noGrp="1"/>
          </p:cNvSpPr>
          <p:nvPr/>
        </p:nvSpPr>
        <p:spPr>
          <a:xfrm>
            <a:off x="400050" y="4933950"/>
            <a:ext cx="533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Monitoring, disaster-recovery drills, load testing and penetration testing belong in deployment hardening.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8BF4A4-9697-426A-A6A8-21F79C0458D3}"/>
              </a:ext>
            </a:extLst>
          </p:cNvPr>
          <p:cNvSpPr>
            <a:spLocks noGrp="1"/>
          </p:cNvSpPr>
          <p:nvPr/>
        </p:nvSpPr>
        <p:spPr>
          <a:xfrm>
            <a:off x="400050" y="5772150"/>
            <a:ext cx="53340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A9E160-8B65-4078-8B90-968AD1E27C6D}"/>
              </a:ext>
            </a:extLst>
          </p:cNvPr>
          <p:cNvSpPr>
            <a:spLocks noGrp="1"/>
          </p:cNvSpPr>
          <p:nvPr/>
        </p:nvSpPr>
        <p:spPr>
          <a:xfrm>
            <a:off x="6191250" y="45339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INTEGRATION EXTENSIONS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18022B-A478-41AB-881E-411CECC5BDAD}"/>
              </a:ext>
            </a:extLst>
          </p:cNvPr>
          <p:cNvSpPr>
            <a:spLocks noGrp="1"/>
          </p:cNvSpPr>
          <p:nvPr/>
        </p:nvSpPr>
        <p:spPr>
          <a:xfrm>
            <a:off x="6191250" y="4933950"/>
            <a:ext cx="533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Future work may add supplier purchasing, calendar scheduling, richer PDF exports and verified payment webhooks.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88C6E3-70A2-49AD-90FB-FFB7C23234C7}"/>
              </a:ext>
            </a:extLst>
          </p:cNvPr>
          <p:cNvSpPr>
            <a:spLocks noGrp="1"/>
          </p:cNvSpPr>
          <p:nvPr/>
        </p:nvSpPr>
        <p:spPr>
          <a:xfrm>
            <a:off x="6191250" y="5772150"/>
            <a:ext cx="53340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397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9E490BC-DD63-4A9B-B8E5-46D19CBBA7E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FINAL SYNTHESIS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91C20C-3970-4245-A83A-4C1BDFF22D0D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9906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103" lnSpcReduction="10000"/>
          </a:bodyPr>
          <a:lstStyle/>
          <a:p>
            <a:pPr algn="l"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RepairTrack delivers one accountable web record for the complete repair journey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47A890-BC16-48FA-B7EA-D00EB339AFD8}"/>
              </a:ext>
            </a:extLst>
          </p:cNvPr>
          <p:cNvSpPr>
            <a:spLocks noGrp="1"/>
          </p:cNvSpPr>
          <p:nvPr/>
        </p:nvSpPr>
        <p:spPr>
          <a:xfrm>
            <a:off x="400050" y="3543300"/>
            <a:ext cx="8382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FC30E-0D4C-4CC6-86A5-508FA358F9B1}"/>
              </a:ext>
            </a:extLst>
          </p:cNvPr>
          <p:cNvSpPr>
            <a:spLocks noGrp="1"/>
          </p:cNvSpPr>
          <p:nvPr/>
        </p:nvSpPr>
        <p:spPr>
          <a:xfrm>
            <a:off x="400050" y="3981450"/>
            <a:ext cx="7810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project demonstrates full-stack engineering through modular architecture, normalized data, role-based workflows, financial records, customer transparency, layered security, automated verification and deployment-ready documentation.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8744C-E2E1-4969-9ED1-841E8061720C}"/>
              </a:ext>
            </a:extLst>
          </p:cNvPr>
          <p:cNvSpPr>
            <a:spLocks noGrp="1"/>
          </p:cNvSpPr>
          <p:nvPr/>
        </p:nvSpPr>
        <p:spPr>
          <a:xfrm>
            <a:off x="8763000" y="3619500"/>
            <a:ext cx="2552700" cy="18097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482C7B-4FFE-4FC5-B2AB-D7240B3DFFB4}"/>
              </a:ext>
            </a:extLst>
          </p:cNvPr>
          <p:cNvSpPr>
            <a:spLocks noGrp="1"/>
          </p:cNvSpPr>
          <p:nvPr/>
        </p:nvSpPr>
        <p:spPr>
          <a:xfrm>
            <a:off x="9048750" y="398145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437AA2-80CD-4B6E-954C-AD2669738B9C}"/>
              </a:ext>
            </a:extLst>
          </p:cNvPr>
          <p:cNvSpPr>
            <a:spLocks noGrp="1"/>
          </p:cNvSpPr>
          <p:nvPr/>
        </p:nvSpPr>
        <p:spPr>
          <a:xfrm>
            <a:off x="9048750" y="45339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E2203-1ACE-45FE-A3CE-316874AD3C6B}"/>
              </a:ext>
            </a:extLst>
          </p:cNvPr>
          <p:cNvSpPr>
            <a:spLocks noGrp="1"/>
          </p:cNvSpPr>
          <p:nvPr/>
        </p:nvSpPr>
        <p:spPr>
          <a:xfrm>
            <a:off x="400050" y="5867400"/>
            <a:ext cx="742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Complete source, tests and manuals are included in the RepairTrack project repository.</a:t>
            </a:r>
          </a:p>
        </p:txBody>
      </p:sp>
    </p:spTree>
    <p:extLst>
      <p:ext uri="{BB962C8B-B14F-4D97-AF65-F5344CB8AC3E}">
        <p14:creationId xmlns:p14="http://schemas.microsoft.com/office/powerpoint/2010/main" val="11251336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2836</Words>
  <Application>Microsoft Office PowerPoint</Application>
  <DocSecurity>0</DocSecurity>
  <PresentationFormat>Widescreen</PresentationFormat>
  <Paragraphs>435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RepairTrack</dc:title>
  <dc:creator>hkaka@usiu.ac.ke</dc:creator>
  <cp:lastModifiedBy>Husain Z. Kaka</cp:lastModifiedBy>
  <cp:revision>1</cp:revision>
  <dcterms:created xsi:type="dcterms:W3CDTF">2026-08-12T13:56:43Z</dcterms:created>
  <dcterms:modified xsi:type="dcterms:W3CDTF">2026-08-15T08:54:06Z</dcterms:modified>
</cp:coreProperties>
</file>